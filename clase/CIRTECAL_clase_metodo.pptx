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clase no es sobre los resultados de Argentina, que ya vieron, sino sobre cómo se obtuvieron, para que cada equipo pueda replicarlo en su país. Todo lo que mostramos está en el repositorio público: las fichas de cada método, el código y el ejemplo argentino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es que salgan con tres cosas. Primero, el método: seis procedimientos con sus reglas. Segundo, el repositorio, que tiene una ficha escrita por método y el código. El código es una opción, no una obligación: cada equipo puede rehacerlo con la herramienta que prefiera, Python, R o una planilla, siempre que respete las reglas. Tercero, el ejemplo argentino: los tests reproducen las cifras publicadas al kilo, así que sirve para comprobar que el kit funciona antes de usarlo con datos propios.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de partida es que no existe un registro público de centros de datos, ni de su potencia, ni de sus bajas de equipamiento. Ninguna fuente alcanza sola. Por eso combinamos seis que no comparten datos entre sí: si todas apuntan al mismo lugar, esa convergencia ya es un resultado; si divergen, la divergencia es el hallazgo. Y tres reglas que no se negocian: sin fuente primaria no hay dato; nada se fabrica, ni potencias inferidas de montos ni series imputadas; y todo se reproduce sobre un corte congelado.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encadenan. El inventario alimenta la localización. La aduana alimenta el espejo. Y la potencia del parque, que sale del inventario o de la cámara del sector, junto con la serie aduanera, da el factor de atribución, que es la llave para pasar del residuo electrónico del país al de los centros de datos. Lo único que cada equipo tiene que completar sí o sí es config/pais.yaml. La pieza que más trabajo da es el adaptador de la aduana propia; si no tiene API, alcanza con exportar una planilla de cinco columnas.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inventario es el método que más trabajo manual lleva. La regla de oro: se descubre con todo, se carga solo con fuente primaria. Fíjense en el campo de la potencia: siempre con su base, IT, total o no aclarada, porque mezclar bases es sumar peras con manzanas. Y el último paso, congelar el corte: cada cifra que publiquen tiene que poder volver a calcularse sobre la misma 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trampas del inventario. La más visible: cuando presentamos, circulaba un mapa periodístico con 67 centros de datos; verificados con fuente primaria, entraron 12 de los que no teníamos. El resto no es mentira: es que no hay forma de respaldarlo. Esa diferencia es en sí misma un resultado sobre la opacidad del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fue la pregunta del consorcio: si la cercanía a los cables genera economías de escala. La reformulamos: el mecanismo es la aglomeración alrededor del nodo de intercambio. Lo operativo es simple: distancias y una regla de clasificación explícita. Lo importante es declarar el umbral y mostrar qué casos cambian si se mueve.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aprendizajes. El primero: que haya un punto de intercambio cerca no explica nada, porque en Argentina hay en casi todas las provincias. Lo que aglomera es la densidad de operadores y clientes alrededor del nodo principal. El segundo: la lista de plataformas extranjeras se arma a mano, y por eso no está en el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posición arancelaria es de IA. Por eso la canasta se arma por componentes y se separa en dos: la que se vuelve residuo y la que mide inversión. Si se mezclan, el residuo se infla. Y el paso más importante, que aprendimos por las malas, es el control de códigos vacíos después de cada carga. Lo vemos en la slide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que más van a discutir, y está bien que así sea: la canasta es una decisión, no un dato. Están las posiciones por capa, con la canasta a la que van. Las que mezclan usos, como las partes de computadoras donde caen las GPU sueltas, se tratan como cota superior. Y hay dos exclusiones deliberadas: la minería de criptomonedas, que va en 8543.70, y las baterías de arranque, en 8507.10. Cada país abre la canasta común de 6 dígitos a su nomenclatura, y ahí cambian las cosas. El caso de México lo vemos a la derecha. La explicación completa está en docs/canasta.md, y las correcciones se cargan como issue de clasificación arancelaria.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trampa más instructiva. En junio presentamos que 2025 era el máximo histórico de importación. No lo era: la enmienda 2022 renumeró posiciones, la canasta tenía solo los códigos nuevos, y la consulta devolvía vacío sin error. El kit ahora controla automáticamente los códigos vacíos y sin predecesor, y en Argentina todavía marca dos que hay que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espejo compara lo que importamos con lo que los socios dicen habernos exportado. La brecha no prueba ocultamiento: hay que clasificarla. Si el total de la partida coincide pero el país no, es atribución de origen; si la declara un centro de reexpedición como Hong Kong, es triangulación; solo si el total falta, y mucho, es secreto probable.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más útil del espejo es descartar una sospecha: la opacidad no está en cuánto entra, sino en de dónde viene. Y un ejemplo de método: cuando apareció la minería cripto, no la dimos por explicación de la brecha; la testeamos, y no la explicaba.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puente entre el inventario y la aduana. Si sabemos cuántos megavatios hay, sabemos cuánto equipo necesitan y cuánto tienen que reponer por año. Dividido por lo que importa el país, da el factor de atribución. Es el número que nos faltaba para pasar del residuo electrónico del país al de los centros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sensibilidad muestra dónde poner el esfuerzo: la base de la potencia mueve el resultado mucho más que cualquier parámetro técnico. Antes de discutir masas por servidor, confirmen si la potencia de su cámara es de IT o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el estándar de ventas y vida útil. Lo propio es atar el factor de atribución al mismo supuesto de vida útil, para que el residuo y el factor se muevan juntos. La revisión que hizo Leandro agregó la segunda vida como sensibilidad y precisó qué evento representa la vida útil: el retiro del primer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lecciones de la revisión del modelo. Que un resultado no cambie al corregir los datos puede ser una compensación, no una confirmación. Que hay que definir si la vida útil termina cuando el equipo sale del centro de datos o cuando se descarta. Y que la segunda vida no siempre reduce el residuo de un período: puede aumentarlo.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del taller, una lista de controles. Si van a recordar una sola slide, que sea esta: cada uno de estos puntos nos hizo equivocar o casi equivocar en Argentina. La lista completa está en docs/trampas.md.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consigna del taller. Primero, que el kit funcione en su máquina: clonan el repositorio y corren los tests, que reproducen el ejemplo argentino. Después completan el archivo de país. Y en la sesión arrancan con lo que más tiempo lleva: el inventario semilla, con diez registros verificados con fuente primaria, y la canasta abierta a su nomenclatura nacional. Para la próxima reunión, cada equipo trae el inventario semilla y la primera serie aduanera.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Todo queda en el repositorio. Si en su país encuentran una trampa que no está en la lista, súmenla: así el kit mejora para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10332720" y="-914400"/>
            <a:ext cx="2926080" cy="2926080"/>
          </a:xfrm>
          <a:prstGeom prst="ellipse">
            <a:avLst/>
          </a:prstGeom>
          <a:solidFill>
            <a:srgbClr val="1B6B7A">
              <a:alpha val="45000"/>
            </a:srgbClr>
          </a:solidFill>
          <a:ln/>
        </p:spPr>
      </p:sp>
      <p:sp>
        <p:nvSpPr>
          <p:cNvPr id="3" name="Shape 1"/>
          <p:cNvSpPr/>
          <p:nvPr/>
        </p:nvSpPr>
        <p:spPr>
          <a:xfrm>
            <a:off x="11155680" y="4937760"/>
            <a:ext cx="2194560" cy="2194560"/>
          </a:xfrm>
          <a:prstGeom prst="ellipse">
            <a:avLst/>
          </a:prstGeom>
          <a:solidFill>
            <a:srgbClr val="2A9D8F">
              <a:alpha val="35000"/>
            </a:srgbClr>
          </a:solidFill>
          <a:ln/>
        </p:spPr>
      </p:sp>
      <p:sp>
        <p:nvSpPr>
          <p:cNvPr id="4" name="Text 2"/>
          <p:cNvSpPr/>
          <p:nvPr/>
        </p:nvSpPr>
        <p:spPr>
          <a:xfrm>
            <a:off x="566928" y="1234440"/>
            <a:ext cx="10789920" cy="365760"/>
          </a:xfrm>
          <a:prstGeom prst="rect">
            <a:avLst/>
          </a:prstGeom>
          <a:noFill/>
          <a:ln/>
        </p:spPr>
        <p:txBody>
          <a:bodyPr wrap="square" lIns="0" tIns="0" rIns="0" bIns="0" rtlCol="0" anchor="ctr"/>
          <a:lstStyle/>
          <a:p>
            <a:pPr indent="0" marL="0">
              <a:buNone/>
            </a:pPr>
            <a:r>
              <a:rPr lang="en-US" sz="1200" b="1" spc="200" kern="0" dirty="0">
                <a:solidFill>
                  <a:srgbClr val="2A9D8F"/>
                </a:solidFill>
                <a:latin typeface="Calibri" pitchFamily="34" charset="0"/>
                <a:ea typeface="Calibri" pitchFamily="34" charset="-122"/>
                <a:cs typeface="Calibri" pitchFamily="34" charset="-120"/>
              </a:rPr>
              <a:t>PROYECTO CIRTECAL · CLASE DE MÉTODO PARA LOS EQUIPOS PAÍS</a:t>
            </a:r>
            <a:endParaRPr lang="en-US" sz="1200" dirty="0"/>
          </a:p>
        </p:txBody>
      </p:sp>
      <p:sp>
        <p:nvSpPr>
          <p:cNvPr id="5" name="Text 3"/>
          <p:cNvSpPr/>
          <p:nvPr/>
        </p:nvSpPr>
        <p:spPr>
          <a:xfrm>
            <a:off x="566928" y="1737360"/>
            <a:ext cx="106070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Medir lo que no se publica</a:t>
            </a:r>
            <a:endParaRPr lang="en-US" sz="3800" dirty="0"/>
          </a:p>
        </p:txBody>
      </p:sp>
      <p:sp>
        <p:nvSpPr>
          <p:cNvPr id="6" name="Text 4"/>
          <p:cNvSpPr/>
          <p:nvPr/>
        </p:nvSpPr>
        <p:spPr>
          <a:xfrm>
            <a:off x="566928" y="2651760"/>
            <a:ext cx="10058400" cy="822960"/>
          </a:xfrm>
          <a:prstGeom prst="rect">
            <a:avLst/>
          </a:prstGeom>
          <a:noFill/>
          <a:ln/>
        </p:spPr>
        <p:txBody>
          <a:bodyPr wrap="square" lIns="0" tIns="0" rIns="0" bIns="0" rtlCol="0" anchor="ctr"/>
          <a:lstStyle/>
          <a:p>
            <a:pPr indent="0" marL="0">
              <a:buNone/>
            </a:pPr>
            <a:r>
              <a:rPr lang="en-US" sz="1800" i="1" dirty="0">
                <a:solidFill>
                  <a:srgbClr val="C3D3DA"/>
                </a:solidFill>
                <a:latin typeface="Cambria" pitchFamily="34" charset="0"/>
                <a:ea typeface="Cambria" pitchFamily="34" charset="-122"/>
                <a:cs typeface="Cambria" pitchFamily="34" charset="-120"/>
              </a:rPr>
              <a:t>Seis métodos para estudiar los centros de datos, el equipamiento que importan y el residuo que dejan, con datos abiertos</a:t>
            </a:r>
            <a:endParaRPr lang="en-US" sz="1800" dirty="0"/>
          </a:p>
        </p:txBody>
      </p:sp>
      <p:sp>
        <p:nvSpPr>
          <p:cNvPr id="7" name="Text 5"/>
          <p:cNvSpPr/>
          <p:nvPr/>
        </p:nvSpPr>
        <p:spPr>
          <a:xfrm>
            <a:off x="566928" y="4572000"/>
            <a:ext cx="10972800" cy="1371600"/>
          </a:xfrm>
          <a:prstGeom prst="rect">
            <a:avLst/>
          </a:prstGeom>
          <a:noFill/>
          <a:ln/>
        </p:spPr>
        <p:txBody>
          <a:bodyPr wrap="square" lIns="0" tIns="0" rIns="0" bIns="0" rtlCol="0" anchor="t"/>
          <a:lstStyle/>
          <a:p>
            <a:pPr indent="0" marL="0">
              <a:lnSpc>
                <a:spcPct val="125000"/>
              </a:lnSpc>
              <a:buNone/>
            </a:pPr>
            <a:r>
              <a:rPr lang="en-US" sz="1400" b="1" dirty="0">
                <a:solidFill>
                  <a:srgbClr val="FFFFFF"/>
                </a:solidFill>
                <a:latin typeface="Calibri" pitchFamily="34" charset="0"/>
                <a:ea typeface="Calibri" pitchFamily="34" charset="-122"/>
                <a:cs typeface="Calibri" pitchFamily="34" charset="-120"/>
              </a:rPr>
              <a:t>Leandro Javier Llorente</a:t>
            </a:r>
            <a:pPr indent="0" marL="0">
              <a:lnSpc>
                <a:spcPct val="125000"/>
              </a:lnSpc>
              <a:buNone/>
            </a:pPr>
            <a:r>
              <a:rPr lang="en-US" sz="1400" dirty="0">
                <a:solidFill>
                  <a:srgbClr val="C3D3DA"/>
                </a:solidFill>
                <a:latin typeface="Calibri" pitchFamily="34" charset="0"/>
                <a:ea typeface="Calibri" pitchFamily="34" charset="-122"/>
                <a:cs typeface="Calibri" pitchFamily="34" charset="-120"/>
              </a:rPr>
              <a:t>  ·  UCA</a:t>
            </a:r>
            <a:endParaRPr lang="en-US" sz="1400" dirty="0"/>
          </a:p>
          <a:p>
            <a:pPr indent="0" marL="0">
              <a:lnSpc>
                <a:spcPct val="125000"/>
              </a:lnSpc>
              <a:buNone/>
            </a:pPr>
            <a:r>
              <a:rPr lang="en-US" sz="1400" b="1" dirty="0">
                <a:solidFill>
                  <a:srgbClr val="FFFFFF"/>
                </a:solidFill>
                <a:latin typeface="Calibri" pitchFamily="34" charset="0"/>
                <a:ea typeface="Calibri" pitchFamily="34" charset="-122"/>
                <a:cs typeface="Calibri" pitchFamily="34" charset="-120"/>
              </a:rPr>
              <a:t>Gerardo Esteban Breard</a:t>
            </a:r>
            <a:pPr indent="0" marL="0">
              <a:lnSpc>
                <a:spcPct val="125000"/>
              </a:lnSpc>
              <a:buNone/>
            </a:pPr>
            <a:r>
              <a:rPr lang="en-US" sz="1400" dirty="0">
                <a:solidFill>
                  <a:srgbClr val="C3D3DA"/>
                </a:solidFill>
                <a:latin typeface="Calibri" pitchFamily="34" charset="0"/>
                <a:ea typeface="Calibri" pitchFamily="34" charset="-122"/>
                <a:cs typeface="Calibri" pitchFamily="34" charset="-120"/>
              </a:rPr>
              <a:t>  ·  UNQ · UMET</a:t>
            </a:r>
            <a:endParaRPr lang="en-US" sz="1400" dirty="0"/>
          </a:p>
          <a:p>
            <a:pPr indent="0" marL="0">
              <a:lnSpc>
                <a:spcPct val="125000"/>
              </a:lnSpc>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indent="0" marL="0">
              <a:lnSpc>
                <a:spcPct val="125000"/>
              </a:lnSpc>
              <a:buNone/>
            </a:pPr>
            <a:r>
              <a:rPr lang="en-US" sz="1400" b="1" dirty="0">
                <a:solidFill>
                  <a:srgbClr val="2A9D8F"/>
                </a:solidFill>
                <a:latin typeface="Calibri" pitchFamily="34" charset="0"/>
                <a:ea typeface="Calibri" pitchFamily="34" charset="-122"/>
                <a:cs typeface="Calibri" pitchFamily="34" charset="-120"/>
              </a:rPr>
              <a:t>github.com/gbreard/cirtecal-dc-kit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LA CLASE</a:t>
            </a:r>
            <a:endParaRPr lang="en-US" sz="1100" dirty="0"/>
          </a:p>
        </p:txBody>
      </p:sp>
      <p:sp>
        <p:nvSpPr>
          <p:cNvPr id="4" name="Text 2"/>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Qué se llevan: un método, un repositorio y un ejemplo que reproduce las cifras</a:t>
            </a:r>
            <a:endParaRPr lang="en-US" sz="2300" dirty="0"/>
          </a:p>
        </p:txBody>
      </p:sp>
      <p:sp>
        <p:nvSpPr>
          <p:cNvPr id="5" name="Text 3"/>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02</a:t>
            </a:r>
            <a:endParaRPr lang="en-US" sz="950" dirty="0"/>
          </a:p>
        </p:txBody>
      </p:sp>
      <p:sp>
        <p:nvSpPr>
          <p:cNvPr id="6" name="Text 4"/>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8" name="Shape 5"/>
          <p:cNvSpPr/>
          <p:nvPr/>
        </p:nvSpPr>
        <p:spPr>
          <a:xfrm>
            <a:off x="566928" y="1554480"/>
            <a:ext cx="3493008" cy="2377440"/>
          </a:xfrm>
          <a:prstGeom prst="roundRect">
            <a:avLst>
              <a:gd name="adj" fmla="val 307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9" name="Shape 6"/>
          <p:cNvSpPr/>
          <p:nvPr/>
        </p:nvSpPr>
        <p:spPr>
          <a:xfrm>
            <a:off x="566928" y="1554480"/>
            <a:ext cx="3493008" cy="73152"/>
          </a:xfrm>
          <a:prstGeom prst="rect">
            <a:avLst/>
          </a:prstGeom>
          <a:solidFill>
            <a:srgbClr val="1B6B7A"/>
          </a:solidFill>
          <a:ln/>
        </p:spPr>
      </p:sp>
      <p:sp>
        <p:nvSpPr>
          <p:cNvPr id="10" name="Text 7"/>
          <p:cNvSpPr/>
          <p:nvPr/>
        </p:nvSpPr>
        <p:spPr>
          <a:xfrm>
            <a:off x="841248" y="1783080"/>
            <a:ext cx="2944368" cy="457200"/>
          </a:xfrm>
          <a:prstGeom prst="rect">
            <a:avLst/>
          </a:prstGeom>
          <a:noFill/>
          <a:ln/>
        </p:spPr>
        <p:txBody>
          <a:bodyPr wrap="square" lIns="0" tIns="0" rIns="0" bIns="0" rtlCol="0" anchor="ctr"/>
          <a:lstStyle/>
          <a:p>
            <a:pPr indent="0" marL="0">
              <a:buNone/>
            </a:pPr>
            <a:r>
              <a:rPr lang="en-US" sz="1900" b="1" dirty="0">
                <a:solidFill>
                  <a:srgbClr val="1B6B7A"/>
                </a:solidFill>
                <a:latin typeface="Cambria" pitchFamily="34" charset="0"/>
                <a:ea typeface="Cambria" pitchFamily="34" charset="-122"/>
                <a:cs typeface="Cambria" pitchFamily="34" charset="-120"/>
              </a:rPr>
              <a:t>El método</a:t>
            </a:r>
            <a:endParaRPr lang="en-US" sz="1900" dirty="0"/>
          </a:p>
        </p:txBody>
      </p:sp>
      <p:sp>
        <p:nvSpPr>
          <p:cNvPr id="11" name="Text 8"/>
          <p:cNvSpPr/>
          <p:nvPr/>
        </p:nvSpPr>
        <p:spPr>
          <a:xfrm>
            <a:off x="841248" y="2331720"/>
            <a:ext cx="2944368" cy="1463040"/>
          </a:xfrm>
          <a:prstGeom prst="rect">
            <a:avLst/>
          </a:prstGeom>
          <a:noFill/>
          <a:ln/>
        </p:spPr>
        <p:txBody>
          <a:bodyPr wrap="square" lIns="0" tIns="0" rIns="0" bIns="0" rtlCol="0" anchor="t"/>
          <a:lstStyle/>
          <a:p>
            <a:pPr indent="0" marL="0">
              <a:lnSpc>
                <a:spcPct val="115000"/>
              </a:lnSpc>
              <a:buNone/>
            </a:pPr>
            <a:r>
              <a:rPr lang="en-US" sz="1350" dirty="0">
                <a:solidFill>
                  <a:srgbClr val="1E293B"/>
                </a:solidFill>
                <a:latin typeface="Calibri" pitchFamily="34" charset="0"/>
                <a:ea typeface="Calibri" pitchFamily="34" charset="-122"/>
                <a:cs typeface="Calibri" pitchFamily="34" charset="-120"/>
              </a:rPr>
              <a:t>Seis procedimientos con sus fuentes, pasos y reglas. Se pueden replicar con cualquier herramienta: Python, R o una planilla.</a:t>
            </a:r>
            <a:endParaRPr lang="en-US" sz="1350" dirty="0"/>
          </a:p>
        </p:txBody>
      </p:sp>
      <p:sp>
        <p:nvSpPr>
          <p:cNvPr id="12" name="Shape 9"/>
          <p:cNvSpPr/>
          <p:nvPr/>
        </p:nvSpPr>
        <p:spPr>
          <a:xfrm>
            <a:off x="4334256" y="1554480"/>
            <a:ext cx="3493008" cy="2377440"/>
          </a:xfrm>
          <a:prstGeom prst="roundRect">
            <a:avLst>
              <a:gd name="adj" fmla="val 307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13" name="Shape 10"/>
          <p:cNvSpPr/>
          <p:nvPr/>
        </p:nvSpPr>
        <p:spPr>
          <a:xfrm>
            <a:off x="4334256" y="1554480"/>
            <a:ext cx="3493008" cy="73152"/>
          </a:xfrm>
          <a:prstGeom prst="rect">
            <a:avLst/>
          </a:prstGeom>
          <a:solidFill>
            <a:srgbClr val="1B6B7A"/>
          </a:solidFill>
          <a:ln/>
        </p:spPr>
      </p:sp>
      <p:sp>
        <p:nvSpPr>
          <p:cNvPr id="14" name="Text 11"/>
          <p:cNvSpPr/>
          <p:nvPr/>
        </p:nvSpPr>
        <p:spPr>
          <a:xfrm>
            <a:off x="4608576" y="1783080"/>
            <a:ext cx="2944368" cy="457200"/>
          </a:xfrm>
          <a:prstGeom prst="rect">
            <a:avLst/>
          </a:prstGeom>
          <a:noFill/>
          <a:ln/>
        </p:spPr>
        <p:txBody>
          <a:bodyPr wrap="square" lIns="0" tIns="0" rIns="0" bIns="0" rtlCol="0" anchor="ctr"/>
          <a:lstStyle/>
          <a:p>
            <a:pPr indent="0" marL="0">
              <a:buNone/>
            </a:pPr>
            <a:r>
              <a:rPr lang="en-US" sz="1900" b="1" dirty="0">
                <a:solidFill>
                  <a:srgbClr val="1B6B7A"/>
                </a:solidFill>
                <a:latin typeface="Cambria" pitchFamily="34" charset="0"/>
                <a:ea typeface="Cambria" pitchFamily="34" charset="-122"/>
                <a:cs typeface="Cambria" pitchFamily="34" charset="-120"/>
              </a:rPr>
              <a:t>El repositorio</a:t>
            </a:r>
            <a:endParaRPr lang="en-US" sz="1900" dirty="0"/>
          </a:p>
        </p:txBody>
      </p:sp>
      <p:sp>
        <p:nvSpPr>
          <p:cNvPr id="15" name="Text 12"/>
          <p:cNvSpPr/>
          <p:nvPr/>
        </p:nvSpPr>
        <p:spPr>
          <a:xfrm>
            <a:off x="4608576" y="2331720"/>
            <a:ext cx="2944368" cy="1463040"/>
          </a:xfrm>
          <a:prstGeom prst="rect">
            <a:avLst/>
          </a:prstGeom>
          <a:noFill/>
          <a:ln/>
        </p:spPr>
        <p:txBody>
          <a:bodyPr wrap="square" lIns="0" tIns="0" rIns="0" bIns="0" rtlCol="0" anchor="t"/>
          <a:lstStyle/>
          <a:p>
            <a:pPr indent="0" marL="0">
              <a:lnSpc>
                <a:spcPct val="115000"/>
              </a:lnSpc>
              <a:buNone/>
            </a:pPr>
            <a:r>
              <a:rPr lang="en-US" sz="1350" dirty="0">
                <a:solidFill>
                  <a:srgbClr val="1E293B"/>
                </a:solidFill>
                <a:latin typeface="Calibri" pitchFamily="34" charset="0"/>
                <a:ea typeface="Calibri" pitchFamily="34" charset="-122"/>
                <a:cs typeface="Calibri" pitchFamily="34" charset="-120"/>
              </a:rPr>
              <a:t>Una ficha por método en docs/, el código en kit/ y la configuración del país en config/pais.yaml.</a:t>
            </a:r>
            <a:endParaRPr lang="en-US" sz="1350" dirty="0"/>
          </a:p>
        </p:txBody>
      </p:sp>
      <p:sp>
        <p:nvSpPr>
          <p:cNvPr id="16" name="Shape 13"/>
          <p:cNvSpPr/>
          <p:nvPr/>
        </p:nvSpPr>
        <p:spPr>
          <a:xfrm>
            <a:off x="8101584" y="1554480"/>
            <a:ext cx="3493008" cy="2377440"/>
          </a:xfrm>
          <a:prstGeom prst="roundRect">
            <a:avLst>
              <a:gd name="adj" fmla="val 307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17" name="Shape 14"/>
          <p:cNvSpPr/>
          <p:nvPr/>
        </p:nvSpPr>
        <p:spPr>
          <a:xfrm>
            <a:off x="8101584" y="1554480"/>
            <a:ext cx="3493008" cy="73152"/>
          </a:xfrm>
          <a:prstGeom prst="rect">
            <a:avLst/>
          </a:prstGeom>
          <a:solidFill>
            <a:srgbClr val="1B6B7A"/>
          </a:solidFill>
          <a:ln/>
        </p:spPr>
      </p:sp>
      <p:sp>
        <p:nvSpPr>
          <p:cNvPr id="18" name="Text 15"/>
          <p:cNvSpPr/>
          <p:nvPr/>
        </p:nvSpPr>
        <p:spPr>
          <a:xfrm>
            <a:off x="8375904" y="1783080"/>
            <a:ext cx="2944368" cy="457200"/>
          </a:xfrm>
          <a:prstGeom prst="rect">
            <a:avLst/>
          </a:prstGeom>
          <a:noFill/>
          <a:ln/>
        </p:spPr>
        <p:txBody>
          <a:bodyPr wrap="square" lIns="0" tIns="0" rIns="0" bIns="0" rtlCol="0" anchor="ctr"/>
          <a:lstStyle/>
          <a:p>
            <a:pPr indent="0" marL="0">
              <a:buNone/>
            </a:pPr>
            <a:r>
              <a:rPr lang="en-US" sz="1900" b="1" dirty="0">
                <a:solidFill>
                  <a:srgbClr val="1B6B7A"/>
                </a:solidFill>
                <a:latin typeface="Cambria" pitchFamily="34" charset="0"/>
                <a:ea typeface="Cambria" pitchFamily="34" charset="-122"/>
                <a:cs typeface="Cambria" pitchFamily="34" charset="-120"/>
              </a:rPr>
              <a:t>El ejemplo argentino</a:t>
            </a:r>
            <a:endParaRPr lang="en-US" sz="1900" dirty="0"/>
          </a:p>
        </p:txBody>
      </p:sp>
      <p:sp>
        <p:nvSpPr>
          <p:cNvPr id="19" name="Text 16"/>
          <p:cNvSpPr/>
          <p:nvPr/>
        </p:nvSpPr>
        <p:spPr>
          <a:xfrm>
            <a:off x="8375904" y="2331720"/>
            <a:ext cx="2944368" cy="1463040"/>
          </a:xfrm>
          <a:prstGeom prst="rect">
            <a:avLst/>
          </a:prstGeom>
          <a:noFill/>
          <a:ln/>
        </p:spPr>
        <p:txBody>
          <a:bodyPr wrap="square" lIns="0" tIns="0" rIns="0" bIns="0" rtlCol="0" anchor="t"/>
          <a:lstStyle/>
          <a:p>
            <a:pPr indent="0" marL="0">
              <a:lnSpc>
                <a:spcPct val="115000"/>
              </a:lnSpc>
              <a:buNone/>
            </a:pPr>
            <a:r>
              <a:rPr lang="en-US" sz="1350" dirty="0">
                <a:solidFill>
                  <a:srgbClr val="1E293B"/>
                </a:solidFill>
                <a:latin typeface="Calibri" pitchFamily="34" charset="0"/>
                <a:ea typeface="Calibri" pitchFamily="34" charset="-122"/>
                <a:cs typeface="Calibri" pitchFamily="34" charset="-120"/>
              </a:rPr>
              <a:t>Corre completo y reproduce las cifras publicadas: sirve para verificar que todo funciona antes de usar datos propios.</a:t>
            </a:r>
            <a:endParaRPr lang="en-US" sz="1350" dirty="0"/>
          </a:p>
        </p:txBody>
      </p:sp>
      <p:sp>
        <p:nvSpPr>
          <p:cNvPr id="20" name="Text 17"/>
          <p:cNvSpPr/>
          <p:nvPr/>
        </p:nvSpPr>
        <p:spPr>
          <a:xfrm>
            <a:off x="566928" y="4160520"/>
            <a:ext cx="11027664"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Recorrido de la clase</a:t>
            </a:r>
            <a:endParaRPr lang="en-US" sz="1500" dirty="0"/>
          </a:p>
        </p:txBody>
      </p:sp>
      <p:sp>
        <p:nvSpPr>
          <p:cNvPr id="21" name="Shape 18"/>
          <p:cNvSpPr/>
          <p:nvPr/>
        </p:nvSpPr>
        <p:spPr>
          <a:xfrm>
            <a:off x="566928" y="4617720"/>
            <a:ext cx="1282446" cy="640080"/>
          </a:xfrm>
          <a:prstGeom prst="roundRect">
            <a:avLst>
              <a:gd name="adj" fmla="val 11429"/>
            </a:avLst>
          </a:prstGeom>
          <a:solidFill>
            <a:srgbClr val="14213D"/>
          </a:solidFill>
          <a:ln/>
        </p:spPr>
      </p:sp>
      <p:sp>
        <p:nvSpPr>
          <p:cNvPr id="22" name="Text 19"/>
          <p:cNvSpPr/>
          <p:nvPr/>
        </p:nvSpPr>
        <p:spPr>
          <a:xfrm>
            <a:off x="566928" y="4617720"/>
            <a:ext cx="128244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Diseño</a:t>
            </a:r>
            <a:endParaRPr lang="en-US" sz="1200" dirty="0"/>
          </a:p>
        </p:txBody>
      </p:sp>
      <p:sp>
        <p:nvSpPr>
          <p:cNvPr id="23" name="Shape 20"/>
          <p:cNvSpPr/>
          <p:nvPr/>
        </p:nvSpPr>
        <p:spPr>
          <a:xfrm>
            <a:off x="1959102" y="4617720"/>
            <a:ext cx="1282446" cy="640080"/>
          </a:xfrm>
          <a:prstGeom prst="roundRect">
            <a:avLst>
              <a:gd name="adj" fmla="val 11429"/>
            </a:avLst>
          </a:prstGeom>
          <a:solidFill>
            <a:srgbClr val="1B6B7A"/>
          </a:solidFill>
          <a:ln/>
        </p:spPr>
      </p:sp>
      <p:sp>
        <p:nvSpPr>
          <p:cNvPr id="24" name="Text 21"/>
          <p:cNvSpPr/>
          <p:nvPr/>
        </p:nvSpPr>
        <p:spPr>
          <a:xfrm>
            <a:off x="1959102" y="4617720"/>
            <a:ext cx="128244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Inventario</a:t>
            </a:r>
            <a:endParaRPr lang="en-US" sz="1200" dirty="0"/>
          </a:p>
        </p:txBody>
      </p:sp>
      <p:sp>
        <p:nvSpPr>
          <p:cNvPr id="25" name="Shape 22"/>
          <p:cNvSpPr/>
          <p:nvPr/>
        </p:nvSpPr>
        <p:spPr>
          <a:xfrm>
            <a:off x="3351276" y="4617720"/>
            <a:ext cx="1282446" cy="640080"/>
          </a:xfrm>
          <a:prstGeom prst="roundRect">
            <a:avLst>
              <a:gd name="adj" fmla="val 11429"/>
            </a:avLst>
          </a:prstGeom>
          <a:solidFill>
            <a:srgbClr val="1B6B7A"/>
          </a:solidFill>
          <a:ln/>
        </p:spPr>
      </p:sp>
      <p:sp>
        <p:nvSpPr>
          <p:cNvPr id="26" name="Text 23"/>
          <p:cNvSpPr/>
          <p:nvPr/>
        </p:nvSpPr>
        <p:spPr>
          <a:xfrm>
            <a:off x="3351276" y="4617720"/>
            <a:ext cx="128244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Localización</a:t>
            </a:r>
            <a:endParaRPr lang="en-US" sz="1200" dirty="0"/>
          </a:p>
        </p:txBody>
      </p:sp>
      <p:sp>
        <p:nvSpPr>
          <p:cNvPr id="27" name="Shape 24"/>
          <p:cNvSpPr/>
          <p:nvPr/>
        </p:nvSpPr>
        <p:spPr>
          <a:xfrm>
            <a:off x="4743450" y="4617720"/>
            <a:ext cx="1282446" cy="640080"/>
          </a:xfrm>
          <a:prstGeom prst="roundRect">
            <a:avLst>
              <a:gd name="adj" fmla="val 11429"/>
            </a:avLst>
          </a:prstGeom>
          <a:solidFill>
            <a:srgbClr val="1B6B7A"/>
          </a:solidFill>
          <a:ln/>
        </p:spPr>
      </p:sp>
      <p:sp>
        <p:nvSpPr>
          <p:cNvPr id="28" name="Text 25"/>
          <p:cNvSpPr/>
          <p:nvPr/>
        </p:nvSpPr>
        <p:spPr>
          <a:xfrm>
            <a:off x="4743450" y="4617720"/>
            <a:ext cx="128244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Aduana</a:t>
            </a:r>
            <a:endParaRPr lang="en-US" sz="1200" dirty="0"/>
          </a:p>
        </p:txBody>
      </p:sp>
      <p:sp>
        <p:nvSpPr>
          <p:cNvPr id="29" name="Shape 26"/>
          <p:cNvSpPr/>
          <p:nvPr/>
        </p:nvSpPr>
        <p:spPr>
          <a:xfrm>
            <a:off x="6135624" y="4617720"/>
            <a:ext cx="1282446" cy="640080"/>
          </a:xfrm>
          <a:prstGeom prst="roundRect">
            <a:avLst>
              <a:gd name="adj" fmla="val 11429"/>
            </a:avLst>
          </a:prstGeom>
          <a:solidFill>
            <a:srgbClr val="1B6B7A"/>
          </a:solidFill>
          <a:ln/>
        </p:spPr>
      </p:sp>
      <p:sp>
        <p:nvSpPr>
          <p:cNvPr id="30" name="Text 27"/>
          <p:cNvSpPr/>
          <p:nvPr/>
        </p:nvSpPr>
        <p:spPr>
          <a:xfrm>
            <a:off x="6135624" y="4617720"/>
            <a:ext cx="128244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Espejo</a:t>
            </a:r>
            <a:endParaRPr lang="en-US" sz="1200" dirty="0"/>
          </a:p>
        </p:txBody>
      </p:sp>
      <p:sp>
        <p:nvSpPr>
          <p:cNvPr id="31" name="Shape 28"/>
          <p:cNvSpPr/>
          <p:nvPr/>
        </p:nvSpPr>
        <p:spPr>
          <a:xfrm>
            <a:off x="7527798" y="4617720"/>
            <a:ext cx="1282446" cy="640080"/>
          </a:xfrm>
          <a:prstGeom prst="roundRect">
            <a:avLst>
              <a:gd name="adj" fmla="val 11429"/>
            </a:avLst>
          </a:prstGeom>
          <a:solidFill>
            <a:srgbClr val="1B6B7A"/>
          </a:solidFill>
          <a:ln/>
        </p:spPr>
      </p:sp>
      <p:sp>
        <p:nvSpPr>
          <p:cNvPr id="32" name="Text 29"/>
          <p:cNvSpPr/>
          <p:nvPr/>
        </p:nvSpPr>
        <p:spPr>
          <a:xfrm>
            <a:off x="7527798" y="4617720"/>
            <a:ext cx="128244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MW → equipo</a:t>
            </a:r>
            <a:endParaRPr lang="en-US" sz="1200" dirty="0"/>
          </a:p>
        </p:txBody>
      </p:sp>
      <p:sp>
        <p:nvSpPr>
          <p:cNvPr id="33" name="Shape 30"/>
          <p:cNvSpPr/>
          <p:nvPr/>
        </p:nvSpPr>
        <p:spPr>
          <a:xfrm>
            <a:off x="8919972" y="4617720"/>
            <a:ext cx="1282446" cy="640080"/>
          </a:xfrm>
          <a:prstGeom prst="roundRect">
            <a:avLst>
              <a:gd name="adj" fmla="val 11429"/>
            </a:avLst>
          </a:prstGeom>
          <a:solidFill>
            <a:srgbClr val="1B6B7A"/>
          </a:solidFill>
          <a:ln/>
        </p:spPr>
      </p:sp>
      <p:sp>
        <p:nvSpPr>
          <p:cNvPr id="34" name="Text 31"/>
          <p:cNvSpPr/>
          <p:nvPr/>
        </p:nvSpPr>
        <p:spPr>
          <a:xfrm>
            <a:off x="8919972" y="4617720"/>
            <a:ext cx="128244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 RAEE</a:t>
            </a:r>
            <a:endParaRPr lang="en-US" sz="1200" dirty="0"/>
          </a:p>
        </p:txBody>
      </p:sp>
      <p:sp>
        <p:nvSpPr>
          <p:cNvPr id="35" name="Shape 32"/>
          <p:cNvSpPr/>
          <p:nvPr/>
        </p:nvSpPr>
        <p:spPr>
          <a:xfrm>
            <a:off x="10312146" y="4617720"/>
            <a:ext cx="1282446" cy="640080"/>
          </a:xfrm>
          <a:prstGeom prst="roundRect">
            <a:avLst>
              <a:gd name="adj" fmla="val 11429"/>
            </a:avLst>
          </a:prstGeom>
          <a:solidFill>
            <a:srgbClr val="14213D"/>
          </a:solidFill>
          <a:ln/>
        </p:spPr>
      </p:sp>
      <p:sp>
        <p:nvSpPr>
          <p:cNvPr id="36" name="Text 33"/>
          <p:cNvSpPr/>
          <p:nvPr/>
        </p:nvSpPr>
        <p:spPr>
          <a:xfrm>
            <a:off x="10312146" y="4617720"/>
            <a:ext cx="1282446"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Taller</a:t>
            </a:r>
            <a:endParaRPr lang="en-US" sz="1200" dirty="0"/>
          </a:p>
        </p:txBody>
      </p:sp>
      <p:sp>
        <p:nvSpPr>
          <p:cNvPr id="37" name="Text 34"/>
          <p:cNvSpPr/>
          <p:nvPr/>
        </p:nvSpPr>
        <p:spPr>
          <a:xfrm>
            <a:off x="566928" y="5440680"/>
            <a:ext cx="11027664" cy="548640"/>
          </a:xfrm>
          <a:prstGeom prst="rect">
            <a:avLst/>
          </a:prstGeom>
          <a:noFill/>
          <a:ln/>
        </p:spPr>
        <p:txBody>
          <a:bodyPr wrap="square" lIns="0" tIns="0" rIns="0" bIns="0" rtlCol="0" anchor="ctr"/>
          <a:lstStyle/>
          <a:p>
            <a:pPr indent="0" marL="0">
              <a:buNone/>
            </a:pPr>
            <a:r>
              <a:rPr lang="en-US" sz="1200" i="1" dirty="0">
                <a:solidFill>
                  <a:srgbClr val="5B6B7A"/>
                </a:solidFill>
                <a:latin typeface="Calibri" pitchFamily="34" charset="0"/>
                <a:ea typeface="Calibri" pitchFamily="34" charset="-122"/>
                <a:cs typeface="Calibri" pitchFamily="34" charset="-120"/>
              </a:rPr>
              <a:t>Cada método: qué pregunta responde, con qué fuentes, cómo se procede, qué trampas encontramos y qué resultado da. El marcador de arriba a la derecha indica en qué bloque estamos.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DISEÑO</a:t>
            </a:r>
            <a:endParaRPr lang="en-US" sz="1100" dirty="0"/>
          </a:p>
        </p:txBody>
      </p:sp>
      <p:sp>
        <p:nvSpPr>
          <p:cNvPr id="4" name="Shape 2"/>
          <p:cNvSpPr/>
          <p:nvPr/>
        </p:nvSpPr>
        <p:spPr>
          <a:xfrm>
            <a:off x="5579669" y="329184"/>
            <a:ext cx="526694" cy="256032"/>
          </a:xfrm>
          <a:prstGeom prst="roundRect">
            <a:avLst>
              <a:gd name="adj" fmla="val 50000"/>
            </a:avLst>
          </a:prstGeom>
          <a:solidFill>
            <a:srgbClr val="1B6B7A"/>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Seis fuentes que no comparten datos: la convergencia es el resultado</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03</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508760"/>
            <a:ext cx="5330952" cy="640080"/>
          </a:xfrm>
          <a:prstGeom prst="roundRect">
            <a:avLst>
              <a:gd name="adj" fmla="val 8571"/>
            </a:avLst>
          </a:prstGeom>
          <a:solidFill>
            <a:srgbClr val="FFFFFF"/>
          </a:solidFill>
          <a:ln w="12700">
            <a:solidFill>
              <a:srgbClr val="CBD7DC"/>
            </a:solidFill>
            <a:prstDash val="solid"/>
          </a:ln>
        </p:spPr>
      </p:sp>
      <p:sp>
        <p:nvSpPr>
          <p:cNvPr id="25" name="Shape 22"/>
          <p:cNvSpPr/>
          <p:nvPr/>
        </p:nvSpPr>
        <p:spPr>
          <a:xfrm>
            <a:off x="704088" y="1655064"/>
            <a:ext cx="347472" cy="347472"/>
          </a:xfrm>
          <a:prstGeom prst="ellipse">
            <a:avLst/>
          </a:prstGeom>
          <a:solidFill>
            <a:srgbClr val="2A9D8F"/>
          </a:solidFill>
          <a:ln/>
        </p:spPr>
      </p:sp>
      <p:sp>
        <p:nvSpPr>
          <p:cNvPr id="26" name="Text 23"/>
          <p:cNvSpPr/>
          <p:nvPr/>
        </p:nvSpPr>
        <p:spPr>
          <a:xfrm>
            <a:off x="704088" y="1655064"/>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27" name="Text 24"/>
          <p:cNvSpPr/>
          <p:nvPr/>
        </p:nvSpPr>
        <p:spPr>
          <a:xfrm>
            <a:off x="1207008" y="1508760"/>
            <a:ext cx="4553712" cy="640080"/>
          </a:xfrm>
          <a:prstGeom prst="rect">
            <a:avLst/>
          </a:prstGeom>
          <a:noFill/>
          <a:ln/>
        </p:spPr>
        <p:txBody>
          <a:bodyPr wrap="square" lIns="0" tIns="0" rIns="0" bIns="0" rtlCol="0" anchor="ctr"/>
          <a:lstStyle/>
          <a:p>
            <a:pPr indent="0" marL="0">
              <a:buNone/>
            </a:pPr>
            <a:r>
              <a:rPr lang="en-US" sz="1250" b="1" dirty="0">
                <a:solidFill>
                  <a:srgbClr val="1B6B7A"/>
                </a:solidFill>
                <a:latin typeface="Calibri" pitchFamily="34" charset="0"/>
                <a:ea typeface="Calibri" pitchFamily="34" charset="-122"/>
                <a:cs typeface="Calibri" pitchFamily="34" charset="-120"/>
              </a:rPr>
              <a:t>Inventario georreferenciado:  </a:t>
            </a:r>
            <a:pPr indent="0" marL="0">
              <a:buNone/>
            </a:pPr>
            <a:r>
              <a:rPr lang="en-US" sz="1250" dirty="0">
                <a:solidFill>
                  <a:srgbClr val="1E293B"/>
                </a:solidFill>
                <a:latin typeface="Calibri" pitchFamily="34" charset="0"/>
                <a:ea typeface="Calibri" pitchFamily="34" charset="-122"/>
                <a:cs typeface="Calibri" pitchFamily="34" charset="-120"/>
              </a:rPr>
              <a:t>qué hay, dónde, de qué tamaño, qué se anuncia</a:t>
            </a:r>
            <a:endParaRPr lang="en-US" sz="1250" dirty="0"/>
          </a:p>
        </p:txBody>
      </p:sp>
      <p:sp>
        <p:nvSpPr>
          <p:cNvPr id="28" name="Shape 25"/>
          <p:cNvSpPr/>
          <p:nvPr/>
        </p:nvSpPr>
        <p:spPr>
          <a:xfrm>
            <a:off x="6263640" y="1508760"/>
            <a:ext cx="5330952" cy="640080"/>
          </a:xfrm>
          <a:prstGeom prst="roundRect">
            <a:avLst>
              <a:gd name="adj" fmla="val 8571"/>
            </a:avLst>
          </a:prstGeom>
          <a:solidFill>
            <a:srgbClr val="FFFFFF"/>
          </a:solidFill>
          <a:ln w="12700">
            <a:solidFill>
              <a:srgbClr val="CBD7DC"/>
            </a:solidFill>
            <a:prstDash val="solid"/>
          </a:ln>
        </p:spPr>
      </p:sp>
      <p:sp>
        <p:nvSpPr>
          <p:cNvPr id="29" name="Shape 26"/>
          <p:cNvSpPr/>
          <p:nvPr/>
        </p:nvSpPr>
        <p:spPr>
          <a:xfrm>
            <a:off x="6400800" y="1655064"/>
            <a:ext cx="347472" cy="347472"/>
          </a:xfrm>
          <a:prstGeom prst="ellipse">
            <a:avLst/>
          </a:prstGeom>
          <a:solidFill>
            <a:srgbClr val="2A9D8F"/>
          </a:solidFill>
          <a:ln/>
        </p:spPr>
      </p:sp>
      <p:sp>
        <p:nvSpPr>
          <p:cNvPr id="30" name="Text 27"/>
          <p:cNvSpPr/>
          <p:nvPr/>
        </p:nvSpPr>
        <p:spPr>
          <a:xfrm>
            <a:off x="6400800" y="1655064"/>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31" name="Text 28"/>
          <p:cNvSpPr/>
          <p:nvPr/>
        </p:nvSpPr>
        <p:spPr>
          <a:xfrm>
            <a:off x="6903720" y="1508760"/>
            <a:ext cx="4553712" cy="640080"/>
          </a:xfrm>
          <a:prstGeom prst="rect">
            <a:avLst/>
          </a:prstGeom>
          <a:noFill/>
          <a:ln/>
        </p:spPr>
        <p:txBody>
          <a:bodyPr wrap="square" lIns="0" tIns="0" rIns="0" bIns="0" rtlCol="0" anchor="ctr"/>
          <a:lstStyle/>
          <a:p>
            <a:pPr indent="0" marL="0">
              <a:buNone/>
            </a:pPr>
            <a:r>
              <a:rPr lang="en-US" sz="1250" b="1" dirty="0">
                <a:solidFill>
                  <a:srgbClr val="1B6B7A"/>
                </a:solidFill>
                <a:latin typeface="Calibri" pitchFamily="34" charset="0"/>
                <a:ea typeface="Calibri" pitchFamily="34" charset="-122"/>
                <a:cs typeface="Calibri" pitchFamily="34" charset="-120"/>
              </a:rPr>
              <a:t>Conectividad y redes:  </a:t>
            </a:r>
            <a:pPr indent="0" marL="0">
              <a:buNone/>
            </a:pPr>
            <a:r>
              <a:rPr lang="en-US" sz="1250" dirty="0">
                <a:solidFill>
                  <a:srgbClr val="1E293B"/>
                </a:solidFill>
                <a:latin typeface="Calibri" pitchFamily="34" charset="0"/>
                <a:ea typeface="Calibri" pitchFamily="34" charset="-122"/>
                <a:cs typeface="Calibri" pitchFamily="34" charset="-120"/>
              </a:rPr>
              <a:t>junto a qué se ubica y para qué se usa</a:t>
            </a:r>
            <a:endParaRPr lang="en-US" sz="1250" dirty="0"/>
          </a:p>
        </p:txBody>
      </p:sp>
      <p:sp>
        <p:nvSpPr>
          <p:cNvPr id="32" name="Shape 29"/>
          <p:cNvSpPr/>
          <p:nvPr/>
        </p:nvSpPr>
        <p:spPr>
          <a:xfrm>
            <a:off x="566928" y="2258568"/>
            <a:ext cx="5330952" cy="640080"/>
          </a:xfrm>
          <a:prstGeom prst="roundRect">
            <a:avLst>
              <a:gd name="adj" fmla="val 8571"/>
            </a:avLst>
          </a:prstGeom>
          <a:solidFill>
            <a:srgbClr val="FFFFFF"/>
          </a:solidFill>
          <a:ln w="12700">
            <a:solidFill>
              <a:srgbClr val="CBD7DC"/>
            </a:solidFill>
            <a:prstDash val="solid"/>
          </a:ln>
        </p:spPr>
      </p:sp>
      <p:sp>
        <p:nvSpPr>
          <p:cNvPr id="33" name="Shape 30"/>
          <p:cNvSpPr/>
          <p:nvPr/>
        </p:nvSpPr>
        <p:spPr>
          <a:xfrm>
            <a:off x="704088" y="2404872"/>
            <a:ext cx="347472" cy="347472"/>
          </a:xfrm>
          <a:prstGeom prst="ellipse">
            <a:avLst/>
          </a:prstGeom>
          <a:solidFill>
            <a:srgbClr val="2A9D8F"/>
          </a:solidFill>
          <a:ln/>
        </p:spPr>
      </p:sp>
      <p:sp>
        <p:nvSpPr>
          <p:cNvPr id="34" name="Text 31"/>
          <p:cNvSpPr/>
          <p:nvPr/>
        </p:nvSpPr>
        <p:spPr>
          <a:xfrm>
            <a:off x="704088" y="2404872"/>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35" name="Text 32"/>
          <p:cNvSpPr/>
          <p:nvPr/>
        </p:nvSpPr>
        <p:spPr>
          <a:xfrm>
            <a:off x="1207008" y="2258568"/>
            <a:ext cx="4553712" cy="640080"/>
          </a:xfrm>
          <a:prstGeom prst="rect">
            <a:avLst/>
          </a:prstGeom>
          <a:noFill/>
          <a:ln/>
        </p:spPr>
        <p:txBody>
          <a:bodyPr wrap="square" lIns="0" tIns="0" rIns="0" bIns="0" rtlCol="0" anchor="ctr"/>
          <a:lstStyle/>
          <a:p>
            <a:pPr indent="0" marL="0">
              <a:buNone/>
            </a:pPr>
            <a:r>
              <a:rPr lang="en-US" sz="1250" b="1" dirty="0">
                <a:solidFill>
                  <a:srgbClr val="1B6B7A"/>
                </a:solidFill>
                <a:latin typeface="Calibri" pitchFamily="34" charset="0"/>
                <a:ea typeface="Calibri" pitchFamily="34" charset="-122"/>
                <a:cs typeface="Calibri" pitchFamily="34" charset="-120"/>
              </a:rPr>
              <a:t>Serie aduanera:  </a:t>
            </a:r>
            <a:pPr indent="0" marL="0">
              <a:buNone/>
            </a:pPr>
            <a:r>
              <a:rPr lang="en-US" sz="1250" dirty="0">
                <a:solidFill>
                  <a:srgbClr val="1E293B"/>
                </a:solidFill>
                <a:latin typeface="Calibri" pitchFamily="34" charset="0"/>
                <a:ea typeface="Calibri" pitchFamily="34" charset="-122"/>
                <a:cs typeface="Calibri" pitchFamily="34" charset="-120"/>
              </a:rPr>
              <a:t>qué equipamiento entra y cuándo</a:t>
            </a:r>
            <a:endParaRPr lang="en-US" sz="1250" dirty="0"/>
          </a:p>
        </p:txBody>
      </p:sp>
      <p:sp>
        <p:nvSpPr>
          <p:cNvPr id="36" name="Shape 33"/>
          <p:cNvSpPr/>
          <p:nvPr/>
        </p:nvSpPr>
        <p:spPr>
          <a:xfrm>
            <a:off x="6263640" y="2258568"/>
            <a:ext cx="5330952" cy="640080"/>
          </a:xfrm>
          <a:prstGeom prst="roundRect">
            <a:avLst>
              <a:gd name="adj" fmla="val 8571"/>
            </a:avLst>
          </a:prstGeom>
          <a:solidFill>
            <a:srgbClr val="FFFFFF"/>
          </a:solidFill>
          <a:ln w="12700">
            <a:solidFill>
              <a:srgbClr val="CBD7DC"/>
            </a:solidFill>
            <a:prstDash val="solid"/>
          </a:ln>
        </p:spPr>
      </p:sp>
      <p:sp>
        <p:nvSpPr>
          <p:cNvPr id="37" name="Shape 34"/>
          <p:cNvSpPr/>
          <p:nvPr/>
        </p:nvSpPr>
        <p:spPr>
          <a:xfrm>
            <a:off x="6400800" y="2404872"/>
            <a:ext cx="347472" cy="347472"/>
          </a:xfrm>
          <a:prstGeom prst="ellipse">
            <a:avLst/>
          </a:prstGeom>
          <a:solidFill>
            <a:srgbClr val="2A9D8F"/>
          </a:solidFill>
          <a:ln/>
        </p:spPr>
      </p:sp>
      <p:sp>
        <p:nvSpPr>
          <p:cNvPr id="38" name="Text 35"/>
          <p:cNvSpPr/>
          <p:nvPr/>
        </p:nvSpPr>
        <p:spPr>
          <a:xfrm>
            <a:off x="6400800" y="2404872"/>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39" name="Text 36"/>
          <p:cNvSpPr/>
          <p:nvPr/>
        </p:nvSpPr>
        <p:spPr>
          <a:xfrm>
            <a:off x="6903720" y="2258568"/>
            <a:ext cx="4553712" cy="640080"/>
          </a:xfrm>
          <a:prstGeom prst="rect">
            <a:avLst/>
          </a:prstGeom>
          <a:noFill/>
          <a:ln/>
        </p:spPr>
        <p:txBody>
          <a:bodyPr wrap="square" lIns="0" tIns="0" rIns="0" bIns="0" rtlCol="0" anchor="ctr"/>
          <a:lstStyle/>
          <a:p>
            <a:pPr indent="0" marL="0">
              <a:buNone/>
            </a:pPr>
            <a:r>
              <a:rPr lang="en-US" sz="1250" b="1" dirty="0">
                <a:solidFill>
                  <a:srgbClr val="1B6B7A"/>
                </a:solidFill>
                <a:latin typeface="Calibri" pitchFamily="34" charset="0"/>
                <a:ea typeface="Calibri" pitchFamily="34" charset="-122"/>
                <a:cs typeface="Calibri" pitchFamily="34" charset="-120"/>
              </a:rPr>
              <a:t>Cruce espejo:  </a:t>
            </a:r>
            <a:pPr indent="0" marL="0">
              <a:buNone/>
            </a:pPr>
            <a:r>
              <a:rPr lang="en-US" sz="1250" dirty="0">
                <a:solidFill>
                  <a:srgbClr val="1E293B"/>
                </a:solidFill>
                <a:latin typeface="Calibri" pitchFamily="34" charset="0"/>
                <a:ea typeface="Calibri" pitchFamily="34" charset="-122"/>
                <a:cs typeface="Calibri" pitchFamily="34" charset="-120"/>
              </a:rPr>
              <a:t>si lo que falta está oculto o mal atribuido</a:t>
            </a:r>
            <a:endParaRPr lang="en-US" sz="1250" dirty="0"/>
          </a:p>
        </p:txBody>
      </p:sp>
      <p:sp>
        <p:nvSpPr>
          <p:cNvPr id="40" name="Shape 37"/>
          <p:cNvSpPr/>
          <p:nvPr/>
        </p:nvSpPr>
        <p:spPr>
          <a:xfrm>
            <a:off x="566928" y="3008376"/>
            <a:ext cx="5330952" cy="640080"/>
          </a:xfrm>
          <a:prstGeom prst="roundRect">
            <a:avLst>
              <a:gd name="adj" fmla="val 8571"/>
            </a:avLst>
          </a:prstGeom>
          <a:solidFill>
            <a:srgbClr val="FFFFFF"/>
          </a:solidFill>
          <a:ln w="12700">
            <a:solidFill>
              <a:srgbClr val="CBD7DC"/>
            </a:solidFill>
            <a:prstDash val="solid"/>
          </a:ln>
        </p:spPr>
      </p:sp>
      <p:sp>
        <p:nvSpPr>
          <p:cNvPr id="41" name="Shape 38"/>
          <p:cNvSpPr/>
          <p:nvPr/>
        </p:nvSpPr>
        <p:spPr>
          <a:xfrm>
            <a:off x="704088" y="3154680"/>
            <a:ext cx="347472" cy="347472"/>
          </a:xfrm>
          <a:prstGeom prst="ellipse">
            <a:avLst/>
          </a:prstGeom>
          <a:solidFill>
            <a:srgbClr val="2A9D8F"/>
          </a:solidFill>
          <a:ln/>
        </p:spPr>
      </p:sp>
      <p:sp>
        <p:nvSpPr>
          <p:cNvPr id="42" name="Text 39"/>
          <p:cNvSpPr/>
          <p:nvPr/>
        </p:nvSpPr>
        <p:spPr>
          <a:xfrm>
            <a:off x="704088" y="315468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43" name="Text 40"/>
          <p:cNvSpPr/>
          <p:nvPr/>
        </p:nvSpPr>
        <p:spPr>
          <a:xfrm>
            <a:off x="1207008" y="3008376"/>
            <a:ext cx="4553712" cy="640080"/>
          </a:xfrm>
          <a:prstGeom prst="rect">
            <a:avLst/>
          </a:prstGeom>
          <a:noFill/>
          <a:ln/>
        </p:spPr>
        <p:txBody>
          <a:bodyPr wrap="square" lIns="0" tIns="0" rIns="0" bIns="0" rtlCol="0" anchor="ctr"/>
          <a:lstStyle/>
          <a:p>
            <a:pPr indent="0" marL="0">
              <a:buNone/>
            </a:pPr>
            <a:r>
              <a:rPr lang="en-US" sz="1250" b="1" dirty="0">
                <a:solidFill>
                  <a:srgbClr val="1B6B7A"/>
                </a:solidFill>
                <a:latin typeface="Calibri" pitchFamily="34" charset="0"/>
                <a:ea typeface="Calibri" pitchFamily="34" charset="-122"/>
                <a:cs typeface="Calibri" pitchFamily="34" charset="-120"/>
              </a:rPr>
              <a:t>Potencia → equipo:  </a:t>
            </a:r>
            <a:pPr indent="0" marL="0">
              <a:buNone/>
            </a:pPr>
            <a:r>
              <a:rPr lang="en-US" sz="1250" dirty="0">
                <a:solidFill>
                  <a:srgbClr val="1E293B"/>
                </a:solidFill>
                <a:latin typeface="Calibri" pitchFamily="34" charset="0"/>
                <a:ea typeface="Calibri" pitchFamily="34" charset="-122"/>
                <a:cs typeface="Calibri" pitchFamily="34" charset="-120"/>
              </a:rPr>
              <a:t>qué parte de lo importado va a centros de datos</a:t>
            </a:r>
            <a:endParaRPr lang="en-US" sz="1250" dirty="0"/>
          </a:p>
        </p:txBody>
      </p:sp>
      <p:sp>
        <p:nvSpPr>
          <p:cNvPr id="44" name="Shape 41"/>
          <p:cNvSpPr/>
          <p:nvPr/>
        </p:nvSpPr>
        <p:spPr>
          <a:xfrm>
            <a:off x="6263640" y="3008376"/>
            <a:ext cx="5330952" cy="640080"/>
          </a:xfrm>
          <a:prstGeom prst="roundRect">
            <a:avLst>
              <a:gd name="adj" fmla="val 8571"/>
            </a:avLst>
          </a:prstGeom>
          <a:solidFill>
            <a:srgbClr val="FFFFFF"/>
          </a:solidFill>
          <a:ln w="12700">
            <a:solidFill>
              <a:srgbClr val="CBD7DC"/>
            </a:solidFill>
            <a:prstDash val="solid"/>
          </a:ln>
        </p:spPr>
      </p:sp>
      <p:sp>
        <p:nvSpPr>
          <p:cNvPr id="45" name="Shape 42"/>
          <p:cNvSpPr/>
          <p:nvPr/>
        </p:nvSpPr>
        <p:spPr>
          <a:xfrm>
            <a:off x="6400800" y="3154680"/>
            <a:ext cx="347472" cy="347472"/>
          </a:xfrm>
          <a:prstGeom prst="ellipse">
            <a:avLst/>
          </a:prstGeom>
          <a:solidFill>
            <a:srgbClr val="2A9D8F"/>
          </a:solidFill>
          <a:ln/>
        </p:spPr>
      </p:sp>
      <p:sp>
        <p:nvSpPr>
          <p:cNvPr id="46" name="Text 43"/>
          <p:cNvSpPr/>
          <p:nvPr/>
        </p:nvSpPr>
        <p:spPr>
          <a:xfrm>
            <a:off x="6400800" y="315468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47" name="Text 44"/>
          <p:cNvSpPr/>
          <p:nvPr/>
        </p:nvSpPr>
        <p:spPr>
          <a:xfrm>
            <a:off x="6903720" y="3008376"/>
            <a:ext cx="4553712" cy="640080"/>
          </a:xfrm>
          <a:prstGeom prst="rect">
            <a:avLst/>
          </a:prstGeom>
          <a:noFill/>
          <a:ln/>
        </p:spPr>
        <p:txBody>
          <a:bodyPr wrap="square" lIns="0" tIns="0" rIns="0" bIns="0" rtlCol="0" anchor="ctr"/>
          <a:lstStyle/>
          <a:p>
            <a:pPr indent="0" marL="0">
              <a:buNone/>
            </a:pPr>
            <a:r>
              <a:rPr lang="en-US" sz="1250" b="1" dirty="0">
                <a:solidFill>
                  <a:srgbClr val="1B6B7A"/>
                </a:solidFill>
                <a:latin typeface="Calibri" pitchFamily="34" charset="0"/>
                <a:ea typeface="Calibri" pitchFamily="34" charset="-122"/>
                <a:cs typeface="Calibri" pitchFamily="34" charset="-120"/>
              </a:rPr>
              <a:t>Registros institucionales:  </a:t>
            </a:r>
            <a:pPr indent="0" marL="0">
              <a:buNone/>
            </a:pPr>
            <a:r>
              <a:rPr lang="en-US" sz="1250" dirty="0">
                <a:solidFill>
                  <a:srgbClr val="1E293B"/>
                </a:solidFill>
                <a:latin typeface="Calibri" pitchFamily="34" charset="0"/>
                <a:ea typeface="Calibri" pitchFamily="34" charset="-122"/>
                <a:cs typeface="Calibri" pitchFamily="34" charset="-120"/>
              </a:rPr>
              <a:t>si los anuncios tienen respaldo formal</a:t>
            </a:r>
            <a:endParaRPr lang="en-US" sz="1250" dirty="0"/>
          </a:p>
        </p:txBody>
      </p:sp>
      <p:sp>
        <p:nvSpPr>
          <p:cNvPr id="48" name="Shape 45"/>
          <p:cNvSpPr/>
          <p:nvPr/>
        </p:nvSpPr>
        <p:spPr>
          <a:xfrm>
            <a:off x="566928" y="3886200"/>
            <a:ext cx="3493008" cy="1234440"/>
          </a:xfrm>
          <a:prstGeom prst="roundRect">
            <a:avLst>
              <a:gd name="adj" fmla="val 5185"/>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49" name="Shape 46"/>
          <p:cNvSpPr/>
          <p:nvPr/>
        </p:nvSpPr>
        <p:spPr>
          <a:xfrm>
            <a:off x="566928" y="3931920"/>
            <a:ext cx="73152" cy="1143000"/>
          </a:xfrm>
          <a:prstGeom prst="rect">
            <a:avLst/>
          </a:prstGeom>
          <a:solidFill>
            <a:srgbClr val="B5402E"/>
          </a:solidFill>
          <a:ln/>
        </p:spPr>
      </p:sp>
      <p:sp>
        <p:nvSpPr>
          <p:cNvPr id="50" name="Text 47"/>
          <p:cNvSpPr/>
          <p:nvPr/>
        </p:nvSpPr>
        <p:spPr>
          <a:xfrm>
            <a:off x="795528" y="3941064"/>
            <a:ext cx="3127248" cy="1124712"/>
          </a:xfrm>
          <a:prstGeom prst="rect">
            <a:avLst/>
          </a:prstGeom>
          <a:noFill/>
          <a:ln/>
        </p:spPr>
        <p:txBody>
          <a:bodyPr wrap="square" lIns="0" tIns="0" rIns="0" bIns="0" rtlCol="0" anchor="ctr"/>
          <a:lstStyle/>
          <a:p>
            <a:pPr indent="0" marL="0">
              <a:lnSpc>
                <a:spcPct val="110000"/>
              </a:lnSpc>
              <a:buNone/>
            </a:pPr>
            <a:r>
              <a:rPr lang="en-US" sz="1200" b="1" dirty="0">
                <a:solidFill>
                  <a:srgbClr val="B5402E"/>
                </a:solidFill>
                <a:latin typeface="Calibri" pitchFamily="34" charset="0"/>
                <a:ea typeface="Calibri" pitchFamily="34" charset="-122"/>
                <a:cs typeface="Calibri" pitchFamily="34" charset="-120"/>
              </a:rPr>
              <a:t>Sin fuente primaria no hay dato.  </a:t>
            </a:r>
            <a:pPr indent="0" marL="0">
              <a:lnSpc>
                <a:spcPct val="110000"/>
              </a:lnSpc>
              <a:buNone/>
            </a:pPr>
            <a:r>
              <a:rPr lang="en-US" sz="1200" dirty="0">
                <a:solidFill>
                  <a:srgbClr val="1E293B"/>
                </a:solidFill>
                <a:latin typeface="Calibri" pitchFamily="34" charset="0"/>
                <a:ea typeface="Calibri" pitchFamily="34" charset="-122"/>
                <a:cs typeface="Calibri" pitchFamily="34" charset="-120"/>
              </a:rPr>
              <a:t>Una base secundaria sirve para descubrir candidatos, no para cargarlos.</a:t>
            </a:r>
            <a:endParaRPr lang="en-US" sz="1200" dirty="0"/>
          </a:p>
        </p:txBody>
      </p:sp>
      <p:sp>
        <p:nvSpPr>
          <p:cNvPr id="51" name="Shape 48"/>
          <p:cNvSpPr/>
          <p:nvPr/>
        </p:nvSpPr>
        <p:spPr>
          <a:xfrm>
            <a:off x="4334256" y="3886200"/>
            <a:ext cx="3493008" cy="1234440"/>
          </a:xfrm>
          <a:prstGeom prst="roundRect">
            <a:avLst>
              <a:gd name="adj" fmla="val 5185"/>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52" name="Shape 49"/>
          <p:cNvSpPr/>
          <p:nvPr/>
        </p:nvSpPr>
        <p:spPr>
          <a:xfrm>
            <a:off x="4334256" y="3931920"/>
            <a:ext cx="73152" cy="1143000"/>
          </a:xfrm>
          <a:prstGeom prst="rect">
            <a:avLst/>
          </a:prstGeom>
          <a:solidFill>
            <a:srgbClr val="1B6B7A"/>
          </a:solidFill>
          <a:ln/>
        </p:spPr>
      </p:sp>
      <p:sp>
        <p:nvSpPr>
          <p:cNvPr id="53" name="Text 50"/>
          <p:cNvSpPr/>
          <p:nvPr/>
        </p:nvSpPr>
        <p:spPr>
          <a:xfrm>
            <a:off x="4562856" y="3941064"/>
            <a:ext cx="3127248" cy="1124712"/>
          </a:xfrm>
          <a:prstGeom prst="rect">
            <a:avLst/>
          </a:prstGeom>
          <a:noFill/>
          <a:ln/>
        </p:spPr>
        <p:txBody>
          <a:bodyPr wrap="square" lIns="0" tIns="0" rIns="0" bIns="0" rtlCol="0" anchor="ctr"/>
          <a:lstStyle/>
          <a:p>
            <a:pPr indent="0" marL="0">
              <a:lnSpc>
                <a:spcPct val="110000"/>
              </a:lnSpc>
              <a:buNone/>
            </a:pPr>
            <a:r>
              <a:rPr lang="en-US" sz="1200" b="1" dirty="0">
                <a:solidFill>
                  <a:srgbClr val="1B6B7A"/>
                </a:solidFill>
                <a:latin typeface="Calibri" pitchFamily="34" charset="0"/>
                <a:ea typeface="Calibri" pitchFamily="34" charset="-122"/>
                <a:cs typeface="Calibri" pitchFamily="34" charset="-120"/>
              </a:rPr>
              <a:t>Nada se fabrica.  </a:t>
            </a:r>
            <a:pPr indent="0" marL="0">
              <a:lnSpc>
                <a:spcPct val="110000"/>
              </a:lnSpc>
              <a:buNone/>
            </a:pPr>
            <a:r>
              <a:rPr lang="en-US" sz="1200" dirty="0">
                <a:solidFill>
                  <a:srgbClr val="1E293B"/>
                </a:solidFill>
                <a:latin typeface="Calibri" pitchFamily="34" charset="0"/>
                <a:ea typeface="Calibri" pitchFamily="34" charset="-122"/>
                <a:cs typeface="Calibri" pitchFamily="34" charset="-120"/>
              </a:rPr>
              <a:t>La potencia no se infiere de montos ni superficies; las series no se imputan; todo va en bandas.</a:t>
            </a:r>
            <a:endParaRPr lang="en-US" sz="1200" dirty="0"/>
          </a:p>
        </p:txBody>
      </p:sp>
      <p:sp>
        <p:nvSpPr>
          <p:cNvPr id="54" name="Shape 51"/>
          <p:cNvSpPr/>
          <p:nvPr/>
        </p:nvSpPr>
        <p:spPr>
          <a:xfrm>
            <a:off x="8101584" y="3886200"/>
            <a:ext cx="3493008" cy="1234440"/>
          </a:xfrm>
          <a:prstGeom prst="roundRect">
            <a:avLst>
              <a:gd name="adj" fmla="val 5185"/>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55" name="Shape 52"/>
          <p:cNvSpPr/>
          <p:nvPr/>
        </p:nvSpPr>
        <p:spPr>
          <a:xfrm>
            <a:off x="8101584" y="3931920"/>
            <a:ext cx="73152" cy="1143000"/>
          </a:xfrm>
          <a:prstGeom prst="rect">
            <a:avLst/>
          </a:prstGeom>
          <a:solidFill>
            <a:srgbClr val="1B6B7A"/>
          </a:solidFill>
          <a:ln/>
        </p:spPr>
      </p:sp>
      <p:sp>
        <p:nvSpPr>
          <p:cNvPr id="56" name="Text 53"/>
          <p:cNvSpPr/>
          <p:nvPr/>
        </p:nvSpPr>
        <p:spPr>
          <a:xfrm>
            <a:off x="8330184" y="3941064"/>
            <a:ext cx="3127248" cy="1124712"/>
          </a:xfrm>
          <a:prstGeom prst="rect">
            <a:avLst/>
          </a:prstGeom>
          <a:noFill/>
          <a:ln/>
        </p:spPr>
        <p:txBody>
          <a:bodyPr wrap="square" lIns="0" tIns="0" rIns="0" bIns="0" rtlCol="0" anchor="ctr"/>
          <a:lstStyle/>
          <a:p>
            <a:pPr indent="0" marL="0">
              <a:lnSpc>
                <a:spcPct val="110000"/>
              </a:lnSpc>
              <a:buNone/>
            </a:pPr>
            <a:r>
              <a:rPr lang="en-US" sz="1200" b="1" dirty="0">
                <a:solidFill>
                  <a:srgbClr val="1B6B7A"/>
                </a:solidFill>
                <a:latin typeface="Calibri" pitchFamily="34" charset="0"/>
                <a:ea typeface="Calibri" pitchFamily="34" charset="-122"/>
                <a:cs typeface="Calibri" pitchFamily="34" charset="-120"/>
              </a:rPr>
              <a:t>Todo se reproduce.  </a:t>
            </a:r>
            <a:pPr indent="0" marL="0">
              <a:lnSpc>
                <a:spcPct val="110000"/>
              </a:lnSpc>
              <a:buNone/>
            </a:pPr>
            <a:r>
              <a:rPr lang="en-US" sz="1200" dirty="0">
                <a:solidFill>
                  <a:srgbClr val="1E293B"/>
                </a:solidFill>
                <a:latin typeface="Calibri" pitchFamily="34" charset="0"/>
                <a:ea typeface="Calibri" pitchFamily="34" charset="-122"/>
                <a:cs typeface="Calibri" pitchFamily="34" charset="-120"/>
              </a:rPr>
              <a:t>Cada cifra sale de un comando sobre datos con procedencia, en un corte congelado.</a:t>
            </a:r>
            <a:endParaRPr lang="en-US" sz="1200" dirty="0"/>
          </a:p>
        </p:txBody>
      </p:sp>
      <p:sp>
        <p:nvSpPr>
          <p:cNvPr id="57" name="Shape 54"/>
          <p:cNvSpPr/>
          <p:nvPr/>
        </p:nvSpPr>
        <p:spPr>
          <a:xfrm>
            <a:off x="566928" y="5349240"/>
            <a:ext cx="11027664" cy="868680"/>
          </a:xfrm>
          <a:prstGeom prst="roundRect">
            <a:avLst>
              <a:gd name="adj" fmla="val 6316"/>
            </a:avLst>
          </a:prstGeom>
          <a:solidFill>
            <a:srgbClr val="14213D"/>
          </a:solidFill>
          <a:ln/>
        </p:spPr>
      </p:sp>
      <p:sp>
        <p:nvSpPr>
          <p:cNvPr id="58" name="Text 55"/>
          <p:cNvSpPr/>
          <p:nvPr/>
        </p:nvSpPr>
        <p:spPr>
          <a:xfrm>
            <a:off x="886968" y="5349240"/>
            <a:ext cx="10387584" cy="868680"/>
          </a:xfrm>
          <a:prstGeom prst="rect">
            <a:avLst/>
          </a:prstGeom>
          <a:noFill/>
          <a:ln/>
        </p:spPr>
        <p:txBody>
          <a:bodyPr wrap="square" lIns="0" tIns="0" rIns="0" bIns="0" rtlCol="0" anchor="ctr"/>
          <a:lstStyle/>
          <a:p>
            <a:pPr indent="0" marL="0">
              <a:lnSpc>
                <a:spcPct val="110000"/>
              </a:lnSpc>
              <a:buNone/>
            </a:pPr>
            <a:r>
              <a:rPr lang="en-US" sz="1250" b="1" dirty="0">
                <a:solidFill>
                  <a:srgbClr val="2A9D8F"/>
                </a:solidFill>
                <a:latin typeface="Calibri" pitchFamily="34" charset="0"/>
                <a:ea typeface="Calibri" pitchFamily="34" charset="-122"/>
                <a:cs typeface="Calibri" pitchFamily="34" charset="-120"/>
              </a:rPr>
              <a:t>Para leer los resultados:  </a:t>
            </a:r>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un país puede alojar el cómputo de IA o consumirlo como servicio desde afuera. Los seis métodos permiten distinguir cuál de las dos describe a cada país; y si el cómputo está afuera, su residuo también.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DISEÑO</a:t>
            </a:r>
            <a:endParaRPr lang="en-US" sz="1100" dirty="0"/>
          </a:p>
        </p:txBody>
      </p:sp>
      <p:sp>
        <p:nvSpPr>
          <p:cNvPr id="4" name="Shape 2"/>
          <p:cNvSpPr/>
          <p:nvPr/>
        </p:nvSpPr>
        <p:spPr>
          <a:xfrm>
            <a:off x="5579669" y="329184"/>
            <a:ext cx="526694" cy="256032"/>
          </a:xfrm>
          <a:prstGeom prst="roundRect">
            <a:avLst>
              <a:gd name="adj" fmla="val 50000"/>
            </a:avLst>
          </a:prstGeom>
          <a:solidFill>
            <a:srgbClr val="1B6B7A"/>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Cómo se encadenan los métodos en el repositorio</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04</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749808" y="1600200"/>
            <a:ext cx="2377440" cy="914400"/>
          </a:xfrm>
          <a:prstGeom prst="roundRect">
            <a:avLst>
              <a:gd name="adj" fmla="val 8000"/>
            </a:avLst>
          </a:prstGeom>
          <a:solidFill>
            <a:srgbClr val="1B6B7A"/>
          </a:solidFill>
          <a:ln/>
          <a:effectLst>
            <a:outerShdw sx="100000" sy="100000" kx="0" ky="0" algn="bl" rotWithShape="0" blurRad="76200" dist="25400" dir="5400000">
              <a:srgbClr val="000000">
                <a:alpha val="10000"/>
              </a:srgbClr>
            </a:outerShdw>
          </a:effectLst>
        </p:spPr>
      </p:sp>
      <p:sp>
        <p:nvSpPr>
          <p:cNvPr id="25" name="Text 22"/>
          <p:cNvSpPr/>
          <p:nvPr/>
        </p:nvSpPr>
        <p:spPr>
          <a:xfrm>
            <a:off x="886968" y="1600200"/>
            <a:ext cx="210312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Inventario</a:t>
            </a:r>
            <a:endParaRPr lang="en-US" sz="1400" dirty="0"/>
          </a:p>
          <a:p>
            <a:pPr algn="ctr" indent="0" marL="0">
              <a:buNone/>
            </a:pPr>
            <a:r>
              <a:rPr lang="en-US" sz="1050" dirty="0">
                <a:solidFill>
                  <a:srgbClr val="DCE6EA"/>
                </a:solidFill>
                <a:latin typeface="Calibri" pitchFamily="34" charset="0"/>
                <a:ea typeface="Calibri" pitchFamily="34" charset="-122"/>
                <a:cs typeface="Calibri" pitchFamily="34" charset="-120"/>
              </a:rPr>
              <a:t>kit.inventario</a:t>
            </a:r>
            <a:endParaRPr lang="en-US" sz="1400" dirty="0"/>
          </a:p>
        </p:txBody>
      </p:sp>
      <p:sp>
        <p:nvSpPr>
          <p:cNvPr id="26" name="Shape 23"/>
          <p:cNvSpPr/>
          <p:nvPr/>
        </p:nvSpPr>
        <p:spPr>
          <a:xfrm>
            <a:off x="3858768" y="1600200"/>
            <a:ext cx="2377440" cy="914400"/>
          </a:xfrm>
          <a:prstGeom prst="roundRect">
            <a:avLst>
              <a:gd name="adj" fmla="val 8000"/>
            </a:avLst>
          </a:prstGeom>
          <a:solidFill>
            <a:srgbClr val="1B6B7A"/>
          </a:solidFill>
          <a:ln/>
          <a:effectLst>
            <a:outerShdw sx="100000" sy="100000" kx="0" ky="0" algn="bl" rotWithShape="0" blurRad="76200" dist="25400" dir="5400000">
              <a:srgbClr val="000000">
                <a:alpha val="10000"/>
              </a:srgbClr>
            </a:outerShdw>
          </a:effectLst>
        </p:spPr>
      </p:sp>
      <p:sp>
        <p:nvSpPr>
          <p:cNvPr id="27" name="Text 24"/>
          <p:cNvSpPr/>
          <p:nvPr/>
        </p:nvSpPr>
        <p:spPr>
          <a:xfrm>
            <a:off x="3995928" y="1600200"/>
            <a:ext cx="210312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Localización</a:t>
            </a:r>
            <a:endParaRPr lang="en-US" sz="1400" dirty="0"/>
          </a:p>
          <a:p>
            <a:pPr algn="ctr" indent="0" marL="0">
              <a:buNone/>
            </a:pPr>
            <a:r>
              <a:rPr lang="en-US" sz="1050" dirty="0">
                <a:solidFill>
                  <a:srgbClr val="DCE6EA"/>
                </a:solidFill>
                <a:latin typeface="Calibri" pitchFamily="34" charset="0"/>
                <a:ea typeface="Calibri" pitchFamily="34" charset="-122"/>
                <a:cs typeface="Calibri" pitchFamily="34" charset="-120"/>
              </a:rPr>
              <a:t>kit.localizacion</a:t>
            </a:r>
            <a:endParaRPr lang="en-US" sz="1400" dirty="0"/>
          </a:p>
        </p:txBody>
      </p:sp>
      <p:sp>
        <p:nvSpPr>
          <p:cNvPr id="28" name="Shape 25"/>
          <p:cNvSpPr/>
          <p:nvPr/>
        </p:nvSpPr>
        <p:spPr>
          <a:xfrm>
            <a:off x="749808" y="3337560"/>
            <a:ext cx="2377440" cy="914400"/>
          </a:xfrm>
          <a:prstGeom prst="roundRect">
            <a:avLst>
              <a:gd name="adj" fmla="val 8000"/>
            </a:avLst>
          </a:prstGeom>
          <a:solidFill>
            <a:srgbClr val="1B6B7A"/>
          </a:solidFill>
          <a:ln/>
          <a:effectLst>
            <a:outerShdw sx="100000" sy="100000" kx="0" ky="0" algn="bl" rotWithShape="0" blurRad="76200" dist="25400" dir="5400000">
              <a:srgbClr val="000000">
                <a:alpha val="10000"/>
              </a:srgbClr>
            </a:outerShdw>
          </a:effectLst>
        </p:spPr>
      </p:sp>
      <p:sp>
        <p:nvSpPr>
          <p:cNvPr id="29" name="Text 26"/>
          <p:cNvSpPr/>
          <p:nvPr/>
        </p:nvSpPr>
        <p:spPr>
          <a:xfrm>
            <a:off x="886968" y="3337560"/>
            <a:ext cx="210312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 Aduana</a:t>
            </a:r>
            <a:endParaRPr lang="en-US" sz="1400" dirty="0"/>
          </a:p>
          <a:p>
            <a:pPr algn="ctr" indent="0" marL="0">
              <a:buNone/>
            </a:pPr>
            <a:r>
              <a:rPr lang="en-US" sz="1050" dirty="0">
                <a:solidFill>
                  <a:srgbClr val="DCE6EA"/>
                </a:solidFill>
                <a:latin typeface="Calibri" pitchFamily="34" charset="0"/>
                <a:ea typeface="Calibri" pitchFamily="34" charset="-122"/>
                <a:cs typeface="Calibri" pitchFamily="34" charset="-120"/>
              </a:rPr>
              <a:t>kit.aduana</a:t>
            </a:r>
            <a:endParaRPr lang="en-US" sz="1400" dirty="0"/>
          </a:p>
        </p:txBody>
      </p:sp>
      <p:sp>
        <p:nvSpPr>
          <p:cNvPr id="30" name="Shape 27"/>
          <p:cNvSpPr/>
          <p:nvPr/>
        </p:nvSpPr>
        <p:spPr>
          <a:xfrm>
            <a:off x="3858768" y="3337560"/>
            <a:ext cx="2377440" cy="914400"/>
          </a:xfrm>
          <a:prstGeom prst="roundRect">
            <a:avLst>
              <a:gd name="adj" fmla="val 8000"/>
            </a:avLst>
          </a:prstGeom>
          <a:solidFill>
            <a:srgbClr val="1B6B7A"/>
          </a:solidFill>
          <a:ln/>
          <a:effectLst>
            <a:outerShdw sx="100000" sy="100000" kx="0" ky="0" algn="bl" rotWithShape="0" blurRad="76200" dist="25400" dir="5400000">
              <a:srgbClr val="000000">
                <a:alpha val="10000"/>
              </a:srgbClr>
            </a:outerShdw>
          </a:effectLst>
        </p:spPr>
      </p:sp>
      <p:sp>
        <p:nvSpPr>
          <p:cNvPr id="31" name="Text 28"/>
          <p:cNvSpPr/>
          <p:nvPr/>
        </p:nvSpPr>
        <p:spPr>
          <a:xfrm>
            <a:off x="3995928" y="3337560"/>
            <a:ext cx="210312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 Espejo</a:t>
            </a:r>
            <a:endParaRPr lang="en-US" sz="1400" dirty="0"/>
          </a:p>
          <a:p>
            <a:pPr algn="ctr" indent="0" marL="0">
              <a:buNone/>
            </a:pPr>
            <a:r>
              <a:rPr lang="en-US" sz="1050" dirty="0">
                <a:solidFill>
                  <a:srgbClr val="DCE6EA"/>
                </a:solidFill>
                <a:latin typeface="Calibri" pitchFamily="34" charset="0"/>
                <a:ea typeface="Calibri" pitchFamily="34" charset="-122"/>
                <a:cs typeface="Calibri" pitchFamily="34" charset="-120"/>
              </a:rPr>
              <a:t>kit.espejo</a:t>
            </a:r>
            <a:endParaRPr lang="en-US" sz="1400" dirty="0"/>
          </a:p>
        </p:txBody>
      </p:sp>
      <p:sp>
        <p:nvSpPr>
          <p:cNvPr id="32" name="Shape 29"/>
          <p:cNvSpPr/>
          <p:nvPr/>
        </p:nvSpPr>
        <p:spPr>
          <a:xfrm>
            <a:off x="6967728" y="2468880"/>
            <a:ext cx="2011680" cy="914400"/>
          </a:xfrm>
          <a:prstGeom prst="roundRect">
            <a:avLst>
              <a:gd name="adj" fmla="val 8000"/>
            </a:avLst>
          </a:prstGeom>
          <a:solidFill>
            <a:srgbClr val="14213D"/>
          </a:solidFill>
          <a:ln/>
          <a:effectLst>
            <a:outerShdw sx="100000" sy="100000" kx="0" ky="0" algn="bl" rotWithShape="0" blurRad="76200" dist="25400" dir="5400000">
              <a:srgbClr val="000000">
                <a:alpha val="10000"/>
              </a:srgbClr>
            </a:outerShdw>
          </a:effectLst>
        </p:spPr>
      </p:sp>
      <p:sp>
        <p:nvSpPr>
          <p:cNvPr id="33" name="Text 30"/>
          <p:cNvSpPr/>
          <p:nvPr/>
        </p:nvSpPr>
        <p:spPr>
          <a:xfrm>
            <a:off x="7104888" y="2468880"/>
            <a:ext cx="173736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 MW → equipo</a:t>
            </a:r>
            <a:endParaRPr lang="en-US" sz="1400" dirty="0"/>
          </a:p>
          <a:p>
            <a:pPr algn="ctr" indent="0" marL="0">
              <a:buNone/>
            </a:pPr>
            <a:r>
              <a:rPr lang="en-US" sz="1050" dirty="0">
                <a:solidFill>
                  <a:srgbClr val="DCE6EA"/>
                </a:solidFill>
                <a:latin typeface="Calibri" pitchFamily="34" charset="0"/>
                <a:ea typeface="Calibri" pitchFamily="34" charset="-122"/>
                <a:cs typeface="Calibri" pitchFamily="34" charset="-120"/>
              </a:rPr>
              <a:t>kit.mwbom · factor f</a:t>
            </a:r>
            <a:endParaRPr lang="en-US" sz="1400" dirty="0"/>
          </a:p>
        </p:txBody>
      </p:sp>
      <p:sp>
        <p:nvSpPr>
          <p:cNvPr id="34" name="Shape 31"/>
          <p:cNvSpPr/>
          <p:nvPr/>
        </p:nvSpPr>
        <p:spPr>
          <a:xfrm>
            <a:off x="9436608" y="2468880"/>
            <a:ext cx="1737360" cy="914400"/>
          </a:xfrm>
          <a:prstGeom prst="roundRect">
            <a:avLst>
              <a:gd name="adj" fmla="val 8000"/>
            </a:avLst>
          </a:prstGeom>
          <a:solidFill>
            <a:srgbClr val="14213D"/>
          </a:solidFill>
          <a:ln/>
          <a:effectLst>
            <a:outerShdw sx="100000" sy="100000" kx="0" ky="0" algn="bl" rotWithShape="0" blurRad="76200" dist="25400" dir="5400000">
              <a:srgbClr val="000000">
                <a:alpha val="10000"/>
              </a:srgbClr>
            </a:outerShdw>
          </a:effectLst>
        </p:spPr>
      </p:sp>
      <p:sp>
        <p:nvSpPr>
          <p:cNvPr id="35" name="Text 32"/>
          <p:cNvSpPr/>
          <p:nvPr/>
        </p:nvSpPr>
        <p:spPr>
          <a:xfrm>
            <a:off x="9573768" y="2468880"/>
            <a:ext cx="14630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 RAEE</a:t>
            </a:r>
            <a:endParaRPr lang="en-US" sz="1400" dirty="0"/>
          </a:p>
          <a:p>
            <a:pPr algn="ctr" indent="0" marL="0">
              <a:buNone/>
            </a:pPr>
            <a:r>
              <a:rPr lang="en-US" sz="1050" dirty="0">
                <a:solidFill>
                  <a:srgbClr val="DCE6EA"/>
                </a:solidFill>
                <a:latin typeface="Calibri" pitchFamily="34" charset="0"/>
                <a:ea typeface="Calibri" pitchFamily="34" charset="-122"/>
                <a:cs typeface="Calibri" pitchFamily="34" charset="-120"/>
              </a:rPr>
              <a:t>kit.raee</a:t>
            </a:r>
            <a:endParaRPr lang="en-US" sz="1400" dirty="0"/>
          </a:p>
        </p:txBody>
      </p:sp>
      <p:sp>
        <p:nvSpPr>
          <p:cNvPr id="36" name="Shape 33"/>
          <p:cNvSpPr/>
          <p:nvPr/>
        </p:nvSpPr>
        <p:spPr>
          <a:xfrm>
            <a:off x="3127248" y="2057400"/>
            <a:ext cx="731520" cy="0"/>
          </a:xfrm>
          <a:prstGeom prst="line">
            <a:avLst/>
          </a:prstGeom>
          <a:noFill/>
          <a:ln w="25400">
            <a:solidFill>
              <a:srgbClr val="1B6B7A"/>
            </a:solidFill>
            <a:prstDash val="solid"/>
            <a:tailEnd type="triangle"/>
          </a:ln>
        </p:spPr>
      </p:sp>
      <p:sp>
        <p:nvSpPr>
          <p:cNvPr id="37" name="Shape 34"/>
          <p:cNvSpPr/>
          <p:nvPr/>
        </p:nvSpPr>
        <p:spPr>
          <a:xfrm>
            <a:off x="3127248" y="3794760"/>
            <a:ext cx="731520" cy="0"/>
          </a:xfrm>
          <a:prstGeom prst="line">
            <a:avLst/>
          </a:prstGeom>
          <a:noFill/>
          <a:ln w="25400">
            <a:solidFill>
              <a:srgbClr val="1B6B7A"/>
            </a:solidFill>
            <a:prstDash val="solid"/>
            <a:tailEnd type="triangle"/>
          </a:ln>
        </p:spPr>
      </p:sp>
      <p:sp>
        <p:nvSpPr>
          <p:cNvPr id="38" name="Shape 35"/>
          <p:cNvSpPr/>
          <p:nvPr/>
        </p:nvSpPr>
        <p:spPr>
          <a:xfrm>
            <a:off x="3127248" y="2286000"/>
            <a:ext cx="3840480" cy="502920"/>
          </a:xfrm>
          <a:prstGeom prst="line">
            <a:avLst/>
          </a:prstGeom>
          <a:noFill/>
          <a:ln w="25400">
            <a:solidFill>
              <a:srgbClr val="1B6B7A"/>
            </a:solidFill>
            <a:prstDash val="solid"/>
            <a:tailEnd type="triangle"/>
          </a:ln>
        </p:spPr>
      </p:sp>
      <p:sp>
        <p:nvSpPr>
          <p:cNvPr id="39" name="Shape 36"/>
          <p:cNvSpPr/>
          <p:nvPr/>
        </p:nvSpPr>
        <p:spPr>
          <a:xfrm>
            <a:off x="3127248" y="3566160"/>
            <a:ext cx="3840480" cy="-502920"/>
          </a:xfrm>
          <a:prstGeom prst="line">
            <a:avLst/>
          </a:prstGeom>
          <a:noFill/>
          <a:ln w="25400">
            <a:solidFill>
              <a:srgbClr val="1B6B7A"/>
            </a:solidFill>
            <a:prstDash val="solid"/>
            <a:tailEnd type="triangle"/>
          </a:ln>
        </p:spPr>
      </p:sp>
      <p:sp>
        <p:nvSpPr>
          <p:cNvPr id="40" name="Shape 37"/>
          <p:cNvSpPr/>
          <p:nvPr/>
        </p:nvSpPr>
        <p:spPr>
          <a:xfrm>
            <a:off x="8979408" y="2926080"/>
            <a:ext cx="457200" cy="0"/>
          </a:xfrm>
          <a:prstGeom prst="line">
            <a:avLst/>
          </a:prstGeom>
          <a:noFill/>
          <a:ln w="25400">
            <a:solidFill>
              <a:srgbClr val="1B6B7A"/>
            </a:solidFill>
            <a:prstDash val="solid"/>
            <a:tailEnd type="triangle"/>
          </a:ln>
        </p:spPr>
      </p:sp>
      <p:sp>
        <p:nvSpPr>
          <p:cNvPr id="41" name="Text 38"/>
          <p:cNvSpPr/>
          <p:nvPr/>
        </p:nvSpPr>
        <p:spPr>
          <a:xfrm>
            <a:off x="4133088" y="2606040"/>
            <a:ext cx="2194560" cy="274320"/>
          </a:xfrm>
          <a:prstGeom prst="rect">
            <a:avLst/>
          </a:prstGeom>
          <a:noFill/>
          <a:ln/>
        </p:spPr>
        <p:txBody>
          <a:bodyPr wrap="square" lIns="0" tIns="0" rIns="0" bIns="0" rtlCol="0" anchor="ctr"/>
          <a:lstStyle/>
          <a:p>
            <a:pPr indent="0" marL="0">
              <a:buNone/>
            </a:pPr>
            <a:r>
              <a:rPr lang="en-US" sz="1000" i="1" dirty="0">
                <a:solidFill>
                  <a:srgbClr val="5B6B7A"/>
                </a:solidFill>
                <a:latin typeface="Calibri" pitchFamily="34" charset="0"/>
                <a:ea typeface="Calibri" pitchFamily="34" charset="-122"/>
                <a:cs typeface="Calibri" pitchFamily="34" charset="-120"/>
              </a:rPr>
              <a:t>potencia del parque</a:t>
            </a:r>
            <a:endParaRPr lang="en-US" sz="1000" dirty="0"/>
          </a:p>
        </p:txBody>
      </p:sp>
      <p:sp>
        <p:nvSpPr>
          <p:cNvPr id="42" name="Text 39"/>
          <p:cNvSpPr/>
          <p:nvPr/>
        </p:nvSpPr>
        <p:spPr>
          <a:xfrm>
            <a:off x="4133088" y="2971800"/>
            <a:ext cx="2194560" cy="274320"/>
          </a:xfrm>
          <a:prstGeom prst="rect">
            <a:avLst/>
          </a:prstGeom>
          <a:noFill/>
          <a:ln/>
        </p:spPr>
        <p:txBody>
          <a:bodyPr wrap="square" lIns="0" tIns="0" rIns="0" bIns="0" rtlCol="0" anchor="ctr"/>
          <a:lstStyle/>
          <a:p>
            <a:pPr indent="0" marL="0">
              <a:buNone/>
            </a:pPr>
            <a:r>
              <a:rPr lang="en-US" sz="1000" i="1" dirty="0">
                <a:solidFill>
                  <a:srgbClr val="5B6B7A"/>
                </a:solidFill>
                <a:latin typeface="Calibri" pitchFamily="34" charset="0"/>
                <a:ea typeface="Calibri" pitchFamily="34" charset="-122"/>
                <a:cs typeface="Calibri" pitchFamily="34" charset="-120"/>
              </a:rPr>
              <a:t>masa importada</a:t>
            </a:r>
            <a:endParaRPr lang="en-US" sz="1000" dirty="0"/>
          </a:p>
        </p:txBody>
      </p:sp>
      <p:sp>
        <p:nvSpPr>
          <p:cNvPr id="43" name="Text 40"/>
          <p:cNvSpPr/>
          <p:nvPr/>
        </p:nvSpPr>
        <p:spPr>
          <a:xfrm>
            <a:off x="566928" y="4572000"/>
            <a:ext cx="11027664" cy="1600200"/>
          </a:xfrm>
          <a:prstGeom prst="rect">
            <a:avLst/>
          </a:prstGeom>
          <a:noFill/>
          <a:ln/>
        </p:spPr>
        <p:txBody>
          <a:bodyPr wrap="square" lIns="0" tIns="0" rIns="0" bIns="0" rtlCol="0" anchor="t"/>
          <a:lstStyle/>
          <a:p>
            <a:pPr indent="0" marL="0">
              <a:lnSpc>
                <a:spcPct val="125000"/>
              </a:lnSpc>
              <a:buNone/>
            </a:pPr>
            <a:r>
              <a:rPr lang="en-US" sz="1400" b="1" dirty="0">
                <a:solidFill>
                  <a:srgbClr val="1B6B7A"/>
                </a:solidFill>
                <a:latin typeface="Calibri" pitchFamily="34" charset="0"/>
                <a:ea typeface="Calibri" pitchFamily="34" charset="-122"/>
                <a:cs typeface="Calibri" pitchFamily="34" charset="-120"/>
              </a:rPr>
              <a:t>Lo que completa cada país</a:t>
            </a:r>
            <a:endParaRPr lang="en-US" sz="1200" dirty="0"/>
          </a:p>
          <a:p>
            <a:pPr indent="0" marL="0">
              <a:lnSpc>
                <a:spcPct val="125000"/>
              </a:lnSpc>
              <a:buNone/>
            </a:pPr>
            <a:r>
              <a:rPr lang="en-US" sz="1200" b="1" dirty="0">
                <a:solidFill>
                  <a:srgbClr val="1E293B"/>
                </a:solidFill>
                <a:latin typeface="Consolas" pitchFamily="34" charset="0"/>
                <a:ea typeface="Consolas" pitchFamily="34" charset="-122"/>
                <a:cs typeface="Consolas" pitchFamily="34" charset="-120"/>
              </a:rPr>
              <a:t>config/pais.yaml</a:t>
            </a:r>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  obligatorio: país, fuente aduanera, años, nodo de intercambio, amarres</a:t>
            </a:r>
            <a:endParaRPr lang="en-US" sz="1200" dirty="0"/>
          </a:p>
          <a:p>
            <a:pPr indent="0" marL="0">
              <a:lnSpc>
                <a:spcPct val="125000"/>
              </a:lnSpc>
              <a:buNone/>
            </a:pPr>
            <a:r>
              <a:rPr lang="en-US" sz="1200" b="1" dirty="0">
                <a:solidFill>
                  <a:srgbClr val="1E293B"/>
                </a:solidFill>
                <a:latin typeface="Consolas" pitchFamily="34" charset="0"/>
                <a:ea typeface="Consolas" pitchFamily="34" charset="-122"/>
                <a:cs typeface="Consolas" pitchFamily="34" charset="-120"/>
              </a:rPr>
              <a:t>kit/fuentes/aduana_&lt;país&gt;.py</a:t>
            </a:r>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  o una planilla: año, código, origen, valor, kg</a:t>
            </a:r>
            <a:endParaRPr lang="en-US" sz="1200" dirty="0"/>
          </a:p>
          <a:p>
            <a:pPr indent="0" marL="0">
              <a:lnSpc>
                <a:spcPct val="125000"/>
              </a:lnSpc>
              <a:buNone/>
            </a:pPr>
            <a:r>
              <a:rPr lang="en-US" sz="1200" b="1" dirty="0">
                <a:solidFill>
                  <a:srgbClr val="1E293B"/>
                </a:solidFill>
                <a:latin typeface="Consolas" pitchFamily="34" charset="0"/>
                <a:ea typeface="Consolas" pitchFamily="34" charset="-122"/>
                <a:cs typeface="Consolas" pitchFamily="34" charset="-120"/>
              </a:rPr>
              <a:t>config/canasta_&lt;país&gt;.csv</a:t>
            </a:r>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  opcional: abrir la canasta común de 6 dígitos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1 · PROCEDIMIENTO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1B6B7A"/>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Inventario: descubrir con todo, cargar solo con fuente primaria</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05</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463040"/>
            <a:ext cx="11027664" cy="548640"/>
          </a:xfrm>
          <a:prstGeom prst="roundRect">
            <a:avLst>
              <a:gd name="adj" fmla="val 10000"/>
            </a:avLst>
          </a:prstGeom>
          <a:solidFill>
            <a:srgbClr val="EEF3F5"/>
          </a:solidFill>
          <a:ln/>
        </p:spPr>
      </p:sp>
      <p:sp>
        <p:nvSpPr>
          <p:cNvPr id="25" name="Text 22"/>
          <p:cNvSpPr/>
          <p:nvPr/>
        </p:nvSpPr>
        <p:spPr>
          <a:xfrm>
            <a:off x="841248" y="1463040"/>
            <a:ext cx="10479024" cy="548640"/>
          </a:xfrm>
          <a:prstGeom prst="rect">
            <a:avLst/>
          </a:prstGeom>
          <a:noFill/>
          <a:ln/>
        </p:spPr>
        <p:txBody>
          <a:bodyPr wrap="square" lIns="0" tIns="0" rIns="0" bIns="0" rtlCol="0" anchor="ctr"/>
          <a:lstStyle/>
          <a:p>
            <a:pPr indent="0" marL="0">
              <a:buNone/>
            </a:pPr>
            <a:r>
              <a:rPr lang="en-US" sz="1350" b="1" dirty="0">
                <a:solidFill>
                  <a:srgbClr val="1B6B7A"/>
                </a:solidFill>
                <a:latin typeface="Calibri" pitchFamily="34" charset="0"/>
                <a:ea typeface="Calibri" pitchFamily="34" charset="-122"/>
                <a:cs typeface="Calibri" pitchFamily="34" charset="-120"/>
              </a:rPr>
              <a:t>Pregunta  </a:t>
            </a:r>
            <a:pPr indent="0" marL="0">
              <a:buNone/>
            </a:pPr>
            <a:r>
              <a:rPr lang="en-US" sz="1350" dirty="0">
                <a:solidFill>
                  <a:srgbClr val="1E293B"/>
                </a:solidFill>
                <a:latin typeface="Calibri" pitchFamily="34" charset="0"/>
                <a:ea typeface="Calibri" pitchFamily="34" charset="-122"/>
                <a:cs typeface="Calibri" pitchFamily="34" charset="-120"/>
              </a:rPr>
              <a:t>¿Qué centros de datos hay, dónde están, de qué tamaño son y cuáles se anuncian?</a:t>
            </a:r>
            <a:endParaRPr lang="en-US" sz="1350" dirty="0"/>
          </a:p>
        </p:txBody>
      </p:sp>
      <p:sp>
        <p:nvSpPr>
          <p:cNvPr id="26" name="Text 23"/>
          <p:cNvSpPr/>
          <p:nvPr/>
        </p:nvSpPr>
        <p:spPr>
          <a:xfrm>
            <a:off x="566928" y="2194560"/>
            <a:ext cx="3566160"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Fuentes</a:t>
            </a:r>
            <a:endParaRPr lang="en-US" sz="1500" dirty="0"/>
          </a:p>
        </p:txBody>
      </p:sp>
      <p:sp>
        <p:nvSpPr>
          <p:cNvPr id="27" name="Text 24"/>
          <p:cNvSpPr/>
          <p:nvPr/>
        </p:nvSpPr>
        <p:spPr>
          <a:xfrm>
            <a:off x="566928" y="2606040"/>
            <a:ext cx="3566160" cy="3566160"/>
          </a:xfrm>
          <a:prstGeom prst="rect">
            <a:avLst/>
          </a:prstGeom>
          <a:noFill/>
          <a:ln/>
        </p:spPr>
        <p:txBody>
          <a:bodyPr wrap="square" lIns="0" tIns="0" rIns="0" bIns="0" rtlCol="0" anchor="t"/>
          <a:lstStyle/>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Cámara del sector: cantidad y potencia de los centros grandes (referencia de cobertura)</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Prensa y sitios de los operadores</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PeeringDB: edificios donde las redes declaran equipamiento</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Registro de Uptime Institute</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Bases abiertas secundarias: solo para descubrir</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Registros de incentivos y actos administrativos</a:t>
            </a:r>
            <a:endParaRPr lang="en-US" sz="1150" dirty="0"/>
          </a:p>
        </p:txBody>
      </p:sp>
      <p:sp>
        <p:nvSpPr>
          <p:cNvPr id="28" name="Text 25"/>
          <p:cNvSpPr/>
          <p:nvPr/>
        </p:nvSpPr>
        <p:spPr>
          <a:xfrm>
            <a:off x="4498848" y="2194560"/>
            <a:ext cx="7095744"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Procedimiento</a:t>
            </a:r>
            <a:endParaRPr lang="en-US" sz="1500" dirty="0"/>
          </a:p>
        </p:txBody>
      </p:sp>
      <p:sp>
        <p:nvSpPr>
          <p:cNvPr id="29" name="Shape 26"/>
          <p:cNvSpPr/>
          <p:nvPr/>
        </p:nvSpPr>
        <p:spPr>
          <a:xfrm>
            <a:off x="4498848" y="2651760"/>
            <a:ext cx="347472" cy="347472"/>
          </a:xfrm>
          <a:prstGeom prst="ellipse">
            <a:avLst/>
          </a:prstGeom>
          <a:solidFill>
            <a:srgbClr val="2A9D8F"/>
          </a:solidFill>
          <a:ln/>
        </p:spPr>
      </p:sp>
      <p:sp>
        <p:nvSpPr>
          <p:cNvPr id="30" name="Text 27"/>
          <p:cNvSpPr/>
          <p:nvPr/>
        </p:nvSpPr>
        <p:spPr>
          <a:xfrm>
            <a:off x="4498848" y="26517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31" name="Text 28"/>
          <p:cNvSpPr/>
          <p:nvPr/>
        </p:nvSpPr>
        <p:spPr>
          <a:xfrm>
            <a:off x="4974336" y="2596896"/>
            <a:ext cx="6620256" cy="512064"/>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Semilla: la cámara y la prensa</a:t>
            </a:r>
            <a:endParaRPr lang="en-US" sz="1200" dirty="0"/>
          </a:p>
        </p:txBody>
      </p:sp>
      <p:sp>
        <p:nvSpPr>
          <p:cNvPr id="32" name="Shape 29"/>
          <p:cNvSpPr/>
          <p:nvPr/>
        </p:nvSpPr>
        <p:spPr>
          <a:xfrm>
            <a:off x="4498848" y="3163824"/>
            <a:ext cx="347472" cy="347472"/>
          </a:xfrm>
          <a:prstGeom prst="ellipse">
            <a:avLst/>
          </a:prstGeom>
          <a:solidFill>
            <a:srgbClr val="2A9D8F"/>
          </a:solidFill>
          <a:ln/>
        </p:spPr>
      </p:sp>
      <p:sp>
        <p:nvSpPr>
          <p:cNvPr id="33" name="Text 30"/>
          <p:cNvSpPr/>
          <p:nvPr/>
        </p:nvSpPr>
        <p:spPr>
          <a:xfrm>
            <a:off x="4498848" y="3163824"/>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4974336" y="3108960"/>
            <a:ext cx="6620256" cy="512064"/>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Candidatos: PeeringDB, Uptime y bases secundarias</a:t>
            </a:r>
            <a:endParaRPr lang="en-US" sz="1200" dirty="0"/>
          </a:p>
        </p:txBody>
      </p:sp>
      <p:sp>
        <p:nvSpPr>
          <p:cNvPr id="35" name="Shape 32"/>
          <p:cNvSpPr/>
          <p:nvPr/>
        </p:nvSpPr>
        <p:spPr>
          <a:xfrm>
            <a:off x="4498848" y="3675888"/>
            <a:ext cx="347472" cy="347472"/>
          </a:xfrm>
          <a:prstGeom prst="ellipse">
            <a:avLst/>
          </a:prstGeom>
          <a:solidFill>
            <a:srgbClr val="2A9D8F"/>
          </a:solidFill>
          <a:ln/>
        </p:spPr>
      </p:sp>
      <p:sp>
        <p:nvSpPr>
          <p:cNvPr id="36" name="Text 33"/>
          <p:cNvSpPr/>
          <p:nvPr/>
        </p:nvSpPr>
        <p:spPr>
          <a:xfrm>
            <a:off x="4498848" y="3675888"/>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37" name="Text 34"/>
          <p:cNvSpPr/>
          <p:nvPr/>
        </p:nvSpPr>
        <p:spPr>
          <a:xfrm>
            <a:off x="4974336" y="3621024"/>
            <a:ext cx="6620256" cy="512064"/>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Verificar cada uno con fuente primaria; si no hay, queda aparte con el motivo</a:t>
            </a:r>
            <a:endParaRPr lang="en-US" sz="1200" dirty="0"/>
          </a:p>
        </p:txBody>
      </p:sp>
      <p:sp>
        <p:nvSpPr>
          <p:cNvPr id="38" name="Shape 35"/>
          <p:cNvSpPr/>
          <p:nvPr/>
        </p:nvSpPr>
        <p:spPr>
          <a:xfrm>
            <a:off x="4498848" y="4187952"/>
            <a:ext cx="347472" cy="347472"/>
          </a:xfrm>
          <a:prstGeom prst="ellipse">
            <a:avLst/>
          </a:prstGeom>
          <a:solidFill>
            <a:srgbClr val="2A9D8F"/>
          </a:solidFill>
          <a:ln/>
        </p:spPr>
      </p:sp>
      <p:sp>
        <p:nvSpPr>
          <p:cNvPr id="39" name="Text 36"/>
          <p:cNvSpPr/>
          <p:nvPr/>
        </p:nvSpPr>
        <p:spPr>
          <a:xfrm>
            <a:off x="4498848" y="4187952"/>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40" name="Text 37"/>
          <p:cNvSpPr/>
          <p:nvPr/>
        </p:nvSpPr>
        <p:spPr>
          <a:xfrm>
            <a:off x="4974336" y="4133088"/>
            <a:ext cx="6620256" cy="512064"/>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Campos obligatorios: estado, tipo de uso, potencia con su base (IT / total / no aclara), coordenada solo si hay dirección</a:t>
            </a:r>
            <a:endParaRPr lang="en-US" sz="1200" dirty="0"/>
          </a:p>
        </p:txBody>
      </p:sp>
      <p:sp>
        <p:nvSpPr>
          <p:cNvPr id="41" name="Shape 38"/>
          <p:cNvSpPr/>
          <p:nvPr/>
        </p:nvSpPr>
        <p:spPr>
          <a:xfrm>
            <a:off x="4498848" y="4700016"/>
            <a:ext cx="347472" cy="347472"/>
          </a:xfrm>
          <a:prstGeom prst="ellipse">
            <a:avLst/>
          </a:prstGeom>
          <a:solidFill>
            <a:srgbClr val="2A9D8F"/>
          </a:solidFill>
          <a:ln/>
        </p:spPr>
      </p:sp>
      <p:sp>
        <p:nvSpPr>
          <p:cNvPr id="42" name="Text 39"/>
          <p:cNvSpPr/>
          <p:nvPr/>
        </p:nvSpPr>
        <p:spPr>
          <a:xfrm>
            <a:off x="4498848" y="4700016"/>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43" name="Text 40"/>
          <p:cNvSpPr/>
          <p:nvPr/>
        </p:nvSpPr>
        <p:spPr>
          <a:xfrm>
            <a:off x="4974336" y="4645152"/>
            <a:ext cx="6620256" cy="512064"/>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Tipo de uso por regla ordenada: público, transaccional, interconexión, cómputo intensivo, corporativo</a:t>
            </a:r>
            <a:endParaRPr lang="en-US" sz="1200" dirty="0"/>
          </a:p>
        </p:txBody>
      </p:sp>
      <p:sp>
        <p:nvSpPr>
          <p:cNvPr id="44" name="Shape 41"/>
          <p:cNvSpPr/>
          <p:nvPr/>
        </p:nvSpPr>
        <p:spPr>
          <a:xfrm>
            <a:off x="4498848" y="5212080"/>
            <a:ext cx="347472" cy="347472"/>
          </a:xfrm>
          <a:prstGeom prst="ellipse">
            <a:avLst/>
          </a:prstGeom>
          <a:solidFill>
            <a:srgbClr val="2A9D8F"/>
          </a:solidFill>
          <a:ln/>
        </p:spPr>
      </p:sp>
      <p:sp>
        <p:nvSpPr>
          <p:cNvPr id="45" name="Text 42"/>
          <p:cNvSpPr/>
          <p:nvPr/>
        </p:nvSpPr>
        <p:spPr>
          <a:xfrm>
            <a:off x="4498848" y="521208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46" name="Text 43"/>
          <p:cNvSpPr/>
          <p:nvPr/>
        </p:nvSpPr>
        <p:spPr>
          <a:xfrm>
            <a:off x="4974336" y="5157216"/>
            <a:ext cx="6620256" cy="512064"/>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Cobertura: cuántos de los centros de la cámara pueden auditarse</a:t>
            </a:r>
            <a:endParaRPr lang="en-US" sz="1200" dirty="0"/>
          </a:p>
        </p:txBody>
      </p:sp>
      <p:sp>
        <p:nvSpPr>
          <p:cNvPr id="47" name="Shape 44"/>
          <p:cNvSpPr/>
          <p:nvPr/>
        </p:nvSpPr>
        <p:spPr>
          <a:xfrm>
            <a:off x="4498848" y="5724144"/>
            <a:ext cx="347472" cy="347472"/>
          </a:xfrm>
          <a:prstGeom prst="ellipse">
            <a:avLst/>
          </a:prstGeom>
          <a:solidFill>
            <a:srgbClr val="2A9D8F"/>
          </a:solidFill>
          <a:ln/>
        </p:spPr>
      </p:sp>
      <p:sp>
        <p:nvSpPr>
          <p:cNvPr id="48" name="Text 45"/>
          <p:cNvSpPr/>
          <p:nvPr/>
        </p:nvSpPr>
        <p:spPr>
          <a:xfrm>
            <a:off x="4498848" y="5724144"/>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7</a:t>
            </a:r>
            <a:endParaRPr lang="en-US" sz="1200" dirty="0"/>
          </a:p>
        </p:txBody>
      </p:sp>
      <p:sp>
        <p:nvSpPr>
          <p:cNvPr id="49" name="Text 46"/>
          <p:cNvSpPr/>
          <p:nvPr/>
        </p:nvSpPr>
        <p:spPr>
          <a:xfrm>
            <a:off x="4974336" y="5669280"/>
            <a:ext cx="6620256" cy="512064"/>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Congelar el corte con una versión</a:t>
            </a:r>
            <a:endParaRPr lang="en-US" sz="1200" dirty="0"/>
          </a:p>
        </p:txBody>
      </p:sp>
      <p:sp>
        <p:nvSpPr>
          <p:cNvPr id="50" name="Text 47"/>
          <p:cNvSpPr/>
          <p:nvPr/>
        </p:nvSpPr>
        <p:spPr>
          <a:xfrm>
            <a:off x="4498848" y="6126480"/>
            <a:ext cx="7095744" cy="256032"/>
          </a:xfrm>
          <a:prstGeom prst="rect">
            <a:avLst/>
          </a:prstGeom>
          <a:noFill/>
          <a:ln/>
        </p:spPr>
        <p:txBody>
          <a:bodyPr wrap="square" lIns="0" tIns="0" rIns="0" bIns="0" rtlCol="0" anchor="ctr"/>
          <a:lstStyle/>
          <a:p>
            <a:pPr algn="r" indent="0" marL="0">
              <a:buNone/>
            </a:pPr>
            <a:r>
              <a:rPr lang="en-US" sz="1000" dirty="0">
                <a:solidFill>
                  <a:srgbClr val="5B6B7A"/>
                </a:solidFill>
                <a:latin typeface="Consolas" pitchFamily="34" charset="0"/>
                <a:ea typeface="Consolas" pitchFamily="34" charset="-122"/>
                <a:cs typeface="Consolas" pitchFamily="34" charset="-120"/>
              </a:rPr>
              <a:t>Ficha: docs/01_inventario.md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1 · TRAMPAS Y RESULTADO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1B6B7A"/>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Inventario: una base secundaria no es un inventario</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06</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Text 21"/>
          <p:cNvSpPr/>
          <p:nvPr/>
        </p:nvSpPr>
        <p:spPr>
          <a:xfrm>
            <a:off x="566928" y="1463040"/>
            <a:ext cx="6400800" cy="365760"/>
          </a:xfrm>
          <a:prstGeom prst="rect">
            <a:avLst/>
          </a:prstGeom>
          <a:noFill/>
          <a:ln/>
        </p:spPr>
        <p:txBody>
          <a:bodyPr wrap="square" lIns="0" tIns="0" rIns="0" bIns="0" rtlCol="0" anchor="ctr"/>
          <a:lstStyle/>
          <a:p>
            <a:pPr indent="0" marL="0">
              <a:buNone/>
            </a:pPr>
            <a:r>
              <a:rPr lang="en-US" sz="1500" b="1" dirty="0">
                <a:solidFill>
                  <a:srgbClr val="B5402E"/>
                </a:solidFill>
                <a:latin typeface="Cambria" pitchFamily="34" charset="0"/>
                <a:ea typeface="Cambria" pitchFamily="34" charset="-122"/>
                <a:cs typeface="Cambria" pitchFamily="34" charset="-120"/>
              </a:rPr>
              <a:t>Lo que nos hizo equivocar</a:t>
            </a:r>
            <a:endParaRPr lang="en-US" sz="1500" dirty="0"/>
          </a:p>
        </p:txBody>
      </p:sp>
      <p:sp>
        <p:nvSpPr>
          <p:cNvPr id="25" name="Shape 22"/>
          <p:cNvSpPr/>
          <p:nvPr/>
        </p:nvSpPr>
        <p:spPr>
          <a:xfrm>
            <a:off x="566928" y="1920240"/>
            <a:ext cx="6400800" cy="811530"/>
          </a:xfrm>
          <a:prstGeom prst="roundRect">
            <a:avLst>
              <a:gd name="adj" fmla="val 788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566928" y="1965960"/>
            <a:ext cx="73152" cy="720090"/>
          </a:xfrm>
          <a:prstGeom prst="rect">
            <a:avLst/>
          </a:prstGeom>
          <a:solidFill>
            <a:srgbClr val="B5402E"/>
          </a:solidFill>
          <a:ln/>
        </p:spPr>
      </p:sp>
      <p:sp>
        <p:nvSpPr>
          <p:cNvPr id="27" name="Text 24"/>
          <p:cNvSpPr/>
          <p:nvPr/>
        </p:nvSpPr>
        <p:spPr>
          <a:xfrm>
            <a:off x="795528" y="1975104"/>
            <a:ext cx="6035040" cy="70180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67 contra 41.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De los 67 registros de una base abierta (Tengo Data), 12 entraron con fuente primaria y 34 quedaron como candidatos.</a:t>
            </a:r>
            <a:endParaRPr lang="en-US" sz="1150" dirty="0"/>
          </a:p>
        </p:txBody>
      </p:sp>
      <p:sp>
        <p:nvSpPr>
          <p:cNvPr id="28" name="Shape 25"/>
          <p:cNvSpPr/>
          <p:nvPr/>
        </p:nvSpPr>
        <p:spPr>
          <a:xfrm>
            <a:off x="566928" y="2868930"/>
            <a:ext cx="6400800" cy="811530"/>
          </a:xfrm>
          <a:prstGeom prst="roundRect">
            <a:avLst>
              <a:gd name="adj" fmla="val 788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9" name="Shape 26"/>
          <p:cNvSpPr/>
          <p:nvPr/>
        </p:nvSpPr>
        <p:spPr>
          <a:xfrm>
            <a:off x="566928" y="2914650"/>
            <a:ext cx="73152" cy="720090"/>
          </a:xfrm>
          <a:prstGeom prst="rect">
            <a:avLst/>
          </a:prstGeom>
          <a:solidFill>
            <a:srgbClr val="B5402E"/>
          </a:solidFill>
          <a:ln/>
        </p:spPr>
      </p:sp>
      <p:sp>
        <p:nvSpPr>
          <p:cNvPr id="30" name="Text 27"/>
          <p:cNvSpPr/>
          <p:nvPr/>
        </p:nvSpPr>
        <p:spPr>
          <a:xfrm>
            <a:off x="795528" y="2923794"/>
            <a:ext cx="6035040" cy="70180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PeeringDB no dice qué es un edificio.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Una instalación puede ser un nodo de red o una estación de amarre.</a:t>
            </a:r>
            <a:endParaRPr lang="en-US" sz="1150" dirty="0"/>
          </a:p>
        </p:txBody>
      </p:sp>
      <p:sp>
        <p:nvSpPr>
          <p:cNvPr id="31" name="Shape 28"/>
          <p:cNvSpPr/>
          <p:nvPr/>
        </p:nvSpPr>
        <p:spPr>
          <a:xfrm>
            <a:off x="566928" y="3817620"/>
            <a:ext cx="6400800" cy="811530"/>
          </a:xfrm>
          <a:prstGeom prst="roundRect">
            <a:avLst>
              <a:gd name="adj" fmla="val 788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2" name="Shape 29"/>
          <p:cNvSpPr/>
          <p:nvPr/>
        </p:nvSpPr>
        <p:spPr>
          <a:xfrm>
            <a:off x="566928" y="3863340"/>
            <a:ext cx="73152" cy="720090"/>
          </a:xfrm>
          <a:prstGeom prst="rect">
            <a:avLst/>
          </a:prstGeom>
          <a:solidFill>
            <a:srgbClr val="B5402E"/>
          </a:solidFill>
          <a:ln/>
        </p:spPr>
      </p:sp>
      <p:sp>
        <p:nvSpPr>
          <p:cNvPr id="33" name="Text 30"/>
          <p:cNvSpPr/>
          <p:nvPr/>
        </p:nvSpPr>
        <p:spPr>
          <a:xfrm>
            <a:off x="795528" y="3872484"/>
            <a:ext cx="6035040" cy="70180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Generación no es potencia de IT.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Los 8 MW de una central que abastece un centro no son su capacidad.</a:t>
            </a:r>
            <a:endParaRPr lang="en-US" sz="1150" dirty="0"/>
          </a:p>
        </p:txBody>
      </p:sp>
      <p:sp>
        <p:nvSpPr>
          <p:cNvPr id="34" name="Shape 31"/>
          <p:cNvSpPr/>
          <p:nvPr/>
        </p:nvSpPr>
        <p:spPr>
          <a:xfrm>
            <a:off x="566928" y="4766310"/>
            <a:ext cx="6400800" cy="811530"/>
          </a:xfrm>
          <a:prstGeom prst="roundRect">
            <a:avLst>
              <a:gd name="adj" fmla="val 788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5" name="Shape 32"/>
          <p:cNvSpPr/>
          <p:nvPr/>
        </p:nvSpPr>
        <p:spPr>
          <a:xfrm>
            <a:off x="566928" y="4812030"/>
            <a:ext cx="73152" cy="720090"/>
          </a:xfrm>
          <a:prstGeom prst="rect">
            <a:avLst/>
          </a:prstGeom>
          <a:solidFill>
            <a:srgbClr val="B5402E"/>
          </a:solidFill>
          <a:ln/>
        </p:spPr>
      </p:sp>
      <p:sp>
        <p:nvSpPr>
          <p:cNvPr id="36" name="Text 33"/>
          <p:cNvSpPr/>
          <p:nvPr/>
        </p:nvSpPr>
        <p:spPr>
          <a:xfrm>
            <a:off x="795528" y="4821174"/>
            <a:ext cx="6035040" cy="70180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Certificación de diseño no es operación.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Uptime certifica el diseño de instalaciones que pueden no estar construidas.</a:t>
            </a:r>
            <a:endParaRPr lang="en-US" sz="1150" dirty="0"/>
          </a:p>
        </p:txBody>
      </p:sp>
      <p:sp>
        <p:nvSpPr>
          <p:cNvPr id="37" name="Shape 34"/>
          <p:cNvSpPr/>
          <p:nvPr/>
        </p:nvSpPr>
        <p:spPr>
          <a:xfrm>
            <a:off x="7287768" y="1463040"/>
            <a:ext cx="4306824" cy="3108960"/>
          </a:xfrm>
          <a:prstGeom prst="roundRect">
            <a:avLst>
              <a:gd name="adj" fmla="val 2353"/>
            </a:avLst>
          </a:prstGeom>
          <a:solidFill>
            <a:srgbClr val="14213D"/>
          </a:solidFill>
          <a:ln/>
        </p:spPr>
      </p:sp>
      <p:sp>
        <p:nvSpPr>
          <p:cNvPr id="38" name="Text 35"/>
          <p:cNvSpPr/>
          <p:nvPr/>
        </p:nvSpPr>
        <p:spPr>
          <a:xfrm>
            <a:off x="7562088" y="1463040"/>
            <a:ext cx="3758184" cy="3108960"/>
          </a:xfrm>
          <a:prstGeom prst="rect">
            <a:avLst/>
          </a:prstGeom>
          <a:noFill/>
          <a:ln/>
        </p:spPr>
        <p:txBody>
          <a:bodyPr wrap="square" lIns="0" tIns="0" rIns="0" bIns="0" rtlCol="0" anchor="ctr"/>
          <a:lstStyle/>
          <a:p>
            <a:pPr indent="0" marL="0">
              <a:lnSpc>
                <a:spcPct val="115000"/>
              </a:lnSpc>
              <a:buNone/>
            </a:pPr>
            <a:r>
              <a:rPr lang="en-US" sz="1400" b="1" dirty="0">
                <a:solidFill>
                  <a:srgbClr val="2A9D8F"/>
                </a:solidFill>
                <a:latin typeface="Calibri" pitchFamily="34" charset="0"/>
                <a:ea typeface="Calibri" pitchFamily="34" charset="-122"/>
                <a:cs typeface="Calibri" pitchFamily="34" charset="-120"/>
              </a:rPr>
              <a:t>Resultado en Argentina</a:t>
            </a:r>
            <a:endParaRPr lang="en-US" sz="1400" dirty="0"/>
          </a:p>
          <a:p>
            <a:pPr indent="0" marL="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41 registros: 31 centros operativos verificados y 8 anuncios. Solo 2 o 3 de los 13 centros de más de 1 MW que reporta la cámara pueden auditarse con fuentes abiertas (24–35% de la potencia). La opacidad es un resultado, no una limitación.</a:t>
            </a:r>
            <a:endParaRPr lang="en-US" sz="1400" dirty="0"/>
          </a:p>
        </p:txBody>
      </p:sp>
      <p:sp>
        <p:nvSpPr>
          <p:cNvPr id="39" name="Text 36"/>
          <p:cNvSpPr/>
          <p:nvPr/>
        </p:nvSpPr>
        <p:spPr>
          <a:xfrm>
            <a:off x="7287768" y="4754880"/>
            <a:ext cx="4306824" cy="320040"/>
          </a:xfrm>
          <a:prstGeom prst="rect">
            <a:avLst/>
          </a:prstGeom>
          <a:noFill/>
          <a:ln/>
        </p:spPr>
        <p:txBody>
          <a:bodyPr wrap="square" lIns="0" tIns="0" rIns="0" bIns="0" rtlCol="0" anchor="ctr"/>
          <a:lstStyle/>
          <a:p>
            <a:pPr indent="0" marL="0">
              <a:buNone/>
            </a:pPr>
            <a:r>
              <a:rPr lang="en-US" sz="1300" b="1" dirty="0">
                <a:solidFill>
                  <a:srgbClr val="1B6B7A"/>
                </a:solidFill>
                <a:latin typeface="Cambria" pitchFamily="34" charset="0"/>
                <a:ea typeface="Cambria" pitchFamily="34" charset="-122"/>
                <a:cs typeface="Cambria" pitchFamily="34" charset="-120"/>
              </a:rPr>
              <a:t>En el kit</a:t>
            </a:r>
            <a:endParaRPr lang="en-US" sz="1300" dirty="0"/>
          </a:p>
        </p:txBody>
      </p:sp>
      <p:sp>
        <p:nvSpPr>
          <p:cNvPr id="40" name="Shape 37"/>
          <p:cNvSpPr/>
          <p:nvPr/>
        </p:nvSpPr>
        <p:spPr>
          <a:xfrm>
            <a:off x="7287768" y="5120640"/>
            <a:ext cx="4306824" cy="868680"/>
          </a:xfrm>
          <a:prstGeom prst="rect">
            <a:avLst/>
          </a:prstGeom>
          <a:solidFill>
            <a:srgbClr val="1E2A3A"/>
          </a:solidFill>
          <a:ln/>
        </p:spPr>
      </p:sp>
      <p:sp>
        <p:nvSpPr>
          <p:cNvPr id="41" name="Text 38"/>
          <p:cNvSpPr/>
          <p:nvPr/>
        </p:nvSpPr>
        <p:spPr>
          <a:xfrm>
            <a:off x="7470648" y="5120640"/>
            <a:ext cx="3941064" cy="868680"/>
          </a:xfrm>
          <a:prstGeom prst="rect">
            <a:avLst/>
          </a:prstGeom>
          <a:noFill/>
          <a:ln/>
        </p:spPr>
        <p:txBody>
          <a:bodyPr wrap="square" lIns="0" tIns="0" rIns="0" bIns="0" rtlCol="0" anchor="ctr"/>
          <a:lstStyle/>
          <a:p>
            <a:pPr indent="0" marL="0">
              <a:buNone/>
            </a:pPr>
            <a:r>
              <a:rPr lang="en-US" sz="1100" dirty="0">
                <a:solidFill>
                  <a:srgbClr val="D7E3E8"/>
                </a:solidFill>
                <a:latin typeface="Consolas" pitchFamily="34" charset="0"/>
                <a:ea typeface="Consolas" pitchFamily="34" charset="-122"/>
                <a:cs typeface="Consolas" pitchFamily="34" charset="-120"/>
              </a:rPr>
              <a:t>python -m kit.inventario</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 valida plantillas/inventario.csv</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2 · PROCEDIMIENTO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1B6B7A"/>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Localización y uso: ¿junto al cable, al nodo o a la energía?</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07</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463040"/>
            <a:ext cx="11027664" cy="548640"/>
          </a:xfrm>
          <a:prstGeom prst="roundRect">
            <a:avLst>
              <a:gd name="adj" fmla="val 10000"/>
            </a:avLst>
          </a:prstGeom>
          <a:solidFill>
            <a:srgbClr val="EEF3F5"/>
          </a:solidFill>
          <a:ln/>
        </p:spPr>
      </p:sp>
      <p:sp>
        <p:nvSpPr>
          <p:cNvPr id="25" name="Text 22"/>
          <p:cNvSpPr/>
          <p:nvPr/>
        </p:nvSpPr>
        <p:spPr>
          <a:xfrm>
            <a:off x="841248" y="1463040"/>
            <a:ext cx="10479024" cy="548640"/>
          </a:xfrm>
          <a:prstGeom prst="rect">
            <a:avLst/>
          </a:prstGeom>
          <a:noFill/>
          <a:ln/>
        </p:spPr>
        <p:txBody>
          <a:bodyPr wrap="square" lIns="0" tIns="0" rIns="0" bIns="0" rtlCol="0" anchor="ctr"/>
          <a:lstStyle/>
          <a:p>
            <a:pPr indent="0" marL="0">
              <a:buNone/>
            </a:pPr>
            <a:r>
              <a:rPr lang="en-US" sz="1350" b="1" dirty="0">
                <a:solidFill>
                  <a:srgbClr val="1B6B7A"/>
                </a:solidFill>
                <a:latin typeface="Calibri" pitchFamily="34" charset="0"/>
                <a:ea typeface="Calibri" pitchFamily="34" charset="-122"/>
                <a:cs typeface="Calibri" pitchFamily="34" charset="-120"/>
              </a:rPr>
              <a:t>Pregunta  </a:t>
            </a:r>
            <a:pPr indent="0" marL="0">
              <a:buNone/>
            </a:pPr>
            <a:r>
              <a:rPr lang="en-US" sz="1350" dirty="0">
                <a:solidFill>
                  <a:srgbClr val="1E293B"/>
                </a:solidFill>
                <a:latin typeface="Calibri" pitchFamily="34" charset="0"/>
                <a:ea typeface="Calibri" pitchFamily="34" charset="-122"/>
                <a:cs typeface="Calibri" pitchFamily="34" charset="-120"/>
              </a:rPr>
              <a:t>¿Junto a qué se ubican los centros de datos, y para qué se usa el parque instalado?</a:t>
            </a:r>
            <a:endParaRPr lang="en-US" sz="1350" dirty="0"/>
          </a:p>
        </p:txBody>
      </p:sp>
      <p:sp>
        <p:nvSpPr>
          <p:cNvPr id="26" name="Text 23"/>
          <p:cNvSpPr/>
          <p:nvPr/>
        </p:nvSpPr>
        <p:spPr>
          <a:xfrm>
            <a:off x="566928" y="2194560"/>
            <a:ext cx="3566160"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Fuentes</a:t>
            </a:r>
            <a:endParaRPr lang="en-US" sz="1500" dirty="0"/>
          </a:p>
        </p:txBody>
      </p:sp>
      <p:sp>
        <p:nvSpPr>
          <p:cNvPr id="27" name="Text 24"/>
          <p:cNvSpPr/>
          <p:nvPr/>
        </p:nvSpPr>
        <p:spPr>
          <a:xfrm>
            <a:off x="566928" y="2606040"/>
            <a:ext cx="3566160" cy="3566160"/>
          </a:xfrm>
          <a:prstGeom prst="rect">
            <a:avLst/>
          </a:prstGeom>
          <a:noFill/>
          <a:ln/>
        </p:spPr>
        <p:txBody>
          <a:bodyPr wrap="square" lIns="0" tIns="0" rIns="0" bIns="0" rtlCol="0" anchor="t"/>
          <a:lstStyle/>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Estaciones de amarre: OpenStreetMap y operadores (no bases comerciales de cables, por licencia)</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Sedes de intercambio de tráfico: PeeringDB</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Redes presentes en cada edificio: PeeringDB</a:t>
            </a:r>
            <a:endParaRPr lang="en-US" sz="1150" dirty="0"/>
          </a:p>
        </p:txBody>
      </p:sp>
      <p:sp>
        <p:nvSpPr>
          <p:cNvPr id="28" name="Text 25"/>
          <p:cNvSpPr/>
          <p:nvPr/>
        </p:nvSpPr>
        <p:spPr>
          <a:xfrm>
            <a:off x="4498848" y="2194560"/>
            <a:ext cx="7095744"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Procedimiento</a:t>
            </a:r>
            <a:endParaRPr lang="en-US" sz="1500" dirty="0"/>
          </a:p>
        </p:txBody>
      </p:sp>
      <p:sp>
        <p:nvSpPr>
          <p:cNvPr id="29" name="Shape 26"/>
          <p:cNvSpPr/>
          <p:nvPr/>
        </p:nvSpPr>
        <p:spPr>
          <a:xfrm>
            <a:off x="4498848" y="2651760"/>
            <a:ext cx="347472" cy="347472"/>
          </a:xfrm>
          <a:prstGeom prst="ellipse">
            <a:avLst/>
          </a:prstGeom>
          <a:solidFill>
            <a:srgbClr val="2A9D8F"/>
          </a:solidFill>
          <a:ln/>
        </p:spPr>
      </p:sp>
      <p:sp>
        <p:nvSpPr>
          <p:cNvPr id="30" name="Text 27"/>
          <p:cNvSpPr/>
          <p:nvPr/>
        </p:nvSpPr>
        <p:spPr>
          <a:xfrm>
            <a:off x="4498848" y="26517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31" name="Text 28"/>
          <p:cNvSpPr/>
          <p:nvPr/>
        </p:nvSpPr>
        <p:spPr>
          <a:xfrm>
            <a:off x="4974336" y="2596896"/>
            <a:ext cx="6620256" cy="658368"/>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Distancia en línea recta de cada centro al amarre, a la sede de intercambio más cercana y al nodo principal</a:t>
            </a:r>
            <a:endParaRPr lang="en-US" sz="1200" dirty="0"/>
          </a:p>
        </p:txBody>
      </p:sp>
      <p:sp>
        <p:nvSpPr>
          <p:cNvPr id="32" name="Shape 29"/>
          <p:cNvSpPr/>
          <p:nvPr/>
        </p:nvSpPr>
        <p:spPr>
          <a:xfrm>
            <a:off x="4498848" y="3310128"/>
            <a:ext cx="347472" cy="347472"/>
          </a:xfrm>
          <a:prstGeom prst="ellipse">
            <a:avLst/>
          </a:prstGeom>
          <a:solidFill>
            <a:srgbClr val="2A9D8F"/>
          </a:solidFill>
          <a:ln/>
        </p:spPr>
      </p:sp>
      <p:sp>
        <p:nvSpPr>
          <p:cNvPr id="33" name="Text 30"/>
          <p:cNvSpPr/>
          <p:nvPr/>
        </p:nvSpPr>
        <p:spPr>
          <a:xfrm>
            <a:off x="4498848" y="3310128"/>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4974336" y="3255264"/>
            <a:ext cx="6620256" cy="658368"/>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Lógica: conectividad si está a menos de 50 km del nodo; energética si está más lejos y su fuente declara motivación energética; si no, mixta</a:t>
            </a:r>
            <a:endParaRPr lang="en-US" sz="1200" dirty="0"/>
          </a:p>
        </p:txBody>
      </p:sp>
      <p:sp>
        <p:nvSpPr>
          <p:cNvPr id="35" name="Shape 32"/>
          <p:cNvSpPr/>
          <p:nvPr/>
        </p:nvSpPr>
        <p:spPr>
          <a:xfrm>
            <a:off x="4498848" y="3968496"/>
            <a:ext cx="347472" cy="347472"/>
          </a:xfrm>
          <a:prstGeom prst="ellipse">
            <a:avLst/>
          </a:prstGeom>
          <a:solidFill>
            <a:srgbClr val="2A9D8F"/>
          </a:solidFill>
          <a:ln/>
        </p:spPr>
      </p:sp>
      <p:sp>
        <p:nvSpPr>
          <p:cNvPr id="36" name="Text 33"/>
          <p:cNvSpPr/>
          <p:nvPr/>
        </p:nvSpPr>
        <p:spPr>
          <a:xfrm>
            <a:off x="4498848" y="3968496"/>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37" name="Text 34"/>
          <p:cNvSpPr/>
          <p:nvPr/>
        </p:nvSpPr>
        <p:spPr>
          <a:xfrm>
            <a:off x="4974336" y="3913632"/>
            <a:ext cx="6620256" cy="658368"/>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Sin coordenadas, no se clasifica</a:t>
            </a:r>
            <a:endParaRPr lang="en-US" sz="1200" dirty="0"/>
          </a:p>
        </p:txBody>
      </p:sp>
      <p:sp>
        <p:nvSpPr>
          <p:cNvPr id="38" name="Shape 35"/>
          <p:cNvSpPr/>
          <p:nvPr/>
        </p:nvSpPr>
        <p:spPr>
          <a:xfrm>
            <a:off x="4498848" y="4626864"/>
            <a:ext cx="347472" cy="347472"/>
          </a:xfrm>
          <a:prstGeom prst="ellipse">
            <a:avLst/>
          </a:prstGeom>
          <a:solidFill>
            <a:srgbClr val="2A9D8F"/>
          </a:solidFill>
          <a:ln/>
        </p:spPr>
      </p:sp>
      <p:sp>
        <p:nvSpPr>
          <p:cNvPr id="39" name="Text 36"/>
          <p:cNvSpPr/>
          <p:nvPr/>
        </p:nvSpPr>
        <p:spPr>
          <a:xfrm>
            <a:off x="4498848" y="4626864"/>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40" name="Text 37"/>
          <p:cNvSpPr/>
          <p:nvPr/>
        </p:nvSpPr>
        <p:spPr>
          <a:xfrm>
            <a:off x="4974336" y="4572000"/>
            <a:ext cx="6620256" cy="658368"/>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Probar la sensibilidad al umbral</a:t>
            </a:r>
            <a:endParaRPr lang="en-US" sz="1200" dirty="0"/>
          </a:p>
        </p:txBody>
      </p:sp>
      <p:sp>
        <p:nvSpPr>
          <p:cNvPr id="41" name="Shape 38"/>
          <p:cNvSpPr/>
          <p:nvPr/>
        </p:nvSpPr>
        <p:spPr>
          <a:xfrm>
            <a:off x="4498848" y="5285232"/>
            <a:ext cx="347472" cy="347472"/>
          </a:xfrm>
          <a:prstGeom prst="ellipse">
            <a:avLst/>
          </a:prstGeom>
          <a:solidFill>
            <a:srgbClr val="2A9D8F"/>
          </a:solidFill>
          <a:ln/>
        </p:spPr>
      </p:sp>
      <p:sp>
        <p:nvSpPr>
          <p:cNvPr id="42" name="Text 39"/>
          <p:cNvSpPr/>
          <p:nvPr/>
        </p:nvSpPr>
        <p:spPr>
          <a:xfrm>
            <a:off x="4498848" y="5285232"/>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43" name="Text 40"/>
          <p:cNvSpPr/>
          <p:nvPr/>
        </p:nvSpPr>
        <p:spPr>
          <a:xfrm>
            <a:off x="4974336" y="5230368"/>
            <a:ext cx="6620256" cy="658368"/>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Uso: bajar las redes de cada centro y marcar las plataformas extranjeras con una lista revisada a mano</a:t>
            </a:r>
            <a:endParaRPr lang="en-US" sz="1200" dirty="0"/>
          </a:p>
        </p:txBody>
      </p:sp>
      <p:sp>
        <p:nvSpPr>
          <p:cNvPr id="44" name="Text 41"/>
          <p:cNvSpPr/>
          <p:nvPr/>
        </p:nvSpPr>
        <p:spPr>
          <a:xfrm>
            <a:off x="4498848" y="6126480"/>
            <a:ext cx="7095744" cy="256032"/>
          </a:xfrm>
          <a:prstGeom prst="rect">
            <a:avLst/>
          </a:prstGeom>
          <a:noFill/>
          <a:ln/>
        </p:spPr>
        <p:txBody>
          <a:bodyPr wrap="square" lIns="0" tIns="0" rIns="0" bIns="0" rtlCol="0" anchor="ctr"/>
          <a:lstStyle/>
          <a:p>
            <a:pPr algn="r" indent="0" marL="0">
              <a:buNone/>
            </a:pPr>
            <a:r>
              <a:rPr lang="en-US" sz="1000" dirty="0">
                <a:solidFill>
                  <a:srgbClr val="5B6B7A"/>
                </a:solidFill>
                <a:latin typeface="Consolas" pitchFamily="34" charset="0"/>
                <a:ea typeface="Consolas" pitchFamily="34" charset="-122"/>
                <a:cs typeface="Consolas" pitchFamily="34" charset="-120"/>
              </a:rPr>
              <a:t>Ficha: docs/02_localizacion.md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2 · TRAMPAS Y RESULTADO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1B6B7A"/>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Localización: lo que aglomera no es el cable ni el punto de intercambio</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08</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Text 21"/>
          <p:cNvSpPr/>
          <p:nvPr/>
        </p:nvSpPr>
        <p:spPr>
          <a:xfrm>
            <a:off x="566928" y="1463040"/>
            <a:ext cx="6400800" cy="365760"/>
          </a:xfrm>
          <a:prstGeom prst="rect">
            <a:avLst/>
          </a:prstGeom>
          <a:noFill/>
          <a:ln/>
        </p:spPr>
        <p:txBody>
          <a:bodyPr wrap="square" lIns="0" tIns="0" rIns="0" bIns="0" rtlCol="0" anchor="ctr"/>
          <a:lstStyle/>
          <a:p>
            <a:pPr indent="0" marL="0">
              <a:buNone/>
            </a:pPr>
            <a:r>
              <a:rPr lang="en-US" sz="1500" b="1" dirty="0">
                <a:solidFill>
                  <a:srgbClr val="B5402E"/>
                </a:solidFill>
                <a:latin typeface="Cambria" pitchFamily="34" charset="0"/>
                <a:ea typeface="Cambria" pitchFamily="34" charset="-122"/>
                <a:cs typeface="Cambria" pitchFamily="34" charset="-120"/>
              </a:rPr>
              <a:t>Lo que nos hizo equivocar</a:t>
            </a:r>
            <a:endParaRPr lang="en-US" sz="1500" dirty="0"/>
          </a:p>
        </p:txBody>
      </p:sp>
      <p:sp>
        <p:nvSpPr>
          <p:cNvPr id="25" name="Shape 22"/>
          <p:cNvSpPr/>
          <p:nvPr/>
        </p:nvSpPr>
        <p:spPr>
          <a:xfrm>
            <a:off x="566928" y="192024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566928" y="1965960"/>
            <a:ext cx="73152" cy="1036320"/>
          </a:xfrm>
          <a:prstGeom prst="rect">
            <a:avLst/>
          </a:prstGeom>
          <a:solidFill>
            <a:srgbClr val="B5402E"/>
          </a:solidFill>
          <a:ln/>
        </p:spPr>
      </p:sp>
      <p:sp>
        <p:nvSpPr>
          <p:cNvPr id="27" name="Text 24"/>
          <p:cNvSpPr/>
          <p:nvPr/>
        </p:nvSpPr>
        <p:spPr>
          <a:xfrm>
            <a:off x="795528" y="197510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Un punto de intercambio cerca no discrimina.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CABASE tiene 29 sedes en Argentina, y los centros siguen en el AMBA.</a:t>
            </a:r>
            <a:endParaRPr lang="en-US" sz="1150" dirty="0"/>
          </a:p>
        </p:txBody>
      </p:sp>
      <p:sp>
        <p:nvSpPr>
          <p:cNvPr id="28" name="Shape 25"/>
          <p:cNvSpPr/>
          <p:nvPr/>
        </p:nvSpPr>
        <p:spPr>
          <a:xfrm>
            <a:off x="566928" y="318516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9" name="Shape 26"/>
          <p:cNvSpPr/>
          <p:nvPr/>
        </p:nvSpPr>
        <p:spPr>
          <a:xfrm>
            <a:off x="566928" y="3230880"/>
            <a:ext cx="73152" cy="1036320"/>
          </a:xfrm>
          <a:prstGeom prst="rect">
            <a:avLst/>
          </a:prstGeom>
          <a:solidFill>
            <a:srgbClr val="B5402E"/>
          </a:solidFill>
          <a:ln/>
        </p:spPr>
      </p:sp>
      <p:sp>
        <p:nvSpPr>
          <p:cNvPr id="30" name="Text 27"/>
          <p:cNvSpPr/>
          <p:nvPr/>
        </p:nvSpPr>
        <p:spPr>
          <a:xfrm>
            <a:off x="795528" y="324002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La lista de plataformas extranjeras es manual.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El kit no la trae: cada equipo arma la suya, red por red.</a:t>
            </a:r>
            <a:endParaRPr lang="en-US" sz="1150" dirty="0"/>
          </a:p>
        </p:txBody>
      </p:sp>
      <p:sp>
        <p:nvSpPr>
          <p:cNvPr id="31" name="Shape 28"/>
          <p:cNvSpPr/>
          <p:nvPr/>
        </p:nvSpPr>
        <p:spPr>
          <a:xfrm>
            <a:off x="566928" y="445008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2" name="Shape 29"/>
          <p:cNvSpPr/>
          <p:nvPr/>
        </p:nvSpPr>
        <p:spPr>
          <a:xfrm>
            <a:off x="566928" y="4495800"/>
            <a:ext cx="73152" cy="1036320"/>
          </a:xfrm>
          <a:prstGeom prst="rect">
            <a:avLst/>
          </a:prstGeom>
          <a:solidFill>
            <a:srgbClr val="B5402E"/>
          </a:solidFill>
          <a:ln/>
        </p:spPr>
      </p:sp>
      <p:sp>
        <p:nvSpPr>
          <p:cNvPr id="33" name="Text 30"/>
          <p:cNvSpPr/>
          <p:nvPr/>
        </p:nvSpPr>
        <p:spPr>
          <a:xfrm>
            <a:off x="795528" y="450494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La presencia declarada es una cota inferior.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Las cachés dentro de las redes de los proveedores de acceso no se declaran en un edificio.</a:t>
            </a:r>
            <a:endParaRPr lang="en-US" sz="1150" dirty="0"/>
          </a:p>
        </p:txBody>
      </p:sp>
      <p:sp>
        <p:nvSpPr>
          <p:cNvPr id="34" name="Shape 31"/>
          <p:cNvSpPr/>
          <p:nvPr/>
        </p:nvSpPr>
        <p:spPr>
          <a:xfrm>
            <a:off x="7287768" y="1463040"/>
            <a:ext cx="4306824" cy="3108960"/>
          </a:xfrm>
          <a:prstGeom prst="roundRect">
            <a:avLst>
              <a:gd name="adj" fmla="val 2353"/>
            </a:avLst>
          </a:prstGeom>
          <a:solidFill>
            <a:srgbClr val="14213D"/>
          </a:solidFill>
          <a:ln/>
        </p:spPr>
      </p:sp>
      <p:sp>
        <p:nvSpPr>
          <p:cNvPr id="35" name="Text 32"/>
          <p:cNvSpPr/>
          <p:nvPr/>
        </p:nvSpPr>
        <p:spPr>
          <a:xfrm>
            <a:off x="7562088" y="1463040"/>
            <a:ext cx="3758184" cy="3108960"/>
          </a:xfrm>
          <a:prstGeom prst="rect">
            <a:avLst/>
          </a:prstGeom>
          <a:noFill/>
          <a:ln/>
        </p:spPr>
        <p:txBody>
          <a:bodyPr wrap="square" lIns="0" tIns="0" rIns="0" bIns="0" rtlCol="0" anchor="ctr"/>
          <a:lstStyle/>
          <a:p>
            <a:pPr indent="0" marL="0">
              <a:lnSpc>
                <a:spcPct val="115000"/>
              </a:lnSpc>
              <a:buNone/>
            </a:pPr>
            <a:r>
              <a:rPr lang="en-US" sz="1400" b="1" dirty="0">
                <a:solidFill>
                  <a:srgbClr val="2A9D8F"/>
                </a:solidFill>
                <a:latin typeface="Calibri" pitchFamily="34" charset="0"/>
                <a:ea typeface="Calibri" pitchFamily="34" charset="-122"/>
                <a:cs typeface="Calibri" pitchFamily="34" charset="-120"/>
              </a:rPr>
              <a:t>Resultado en Argentina</a:t>
            </a:r>
            <a:endParaRPr lang="en-US" sz="1400" dirty="0"/>
          </a:p>
          <a:p>
            <a:pPr indent="0" marL="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12 de 14 centros con coordenadas, a menos de 36 km del nodo principal; el único amarre, a 257 km. Los anuncios, a más de 570 km, junto a la generación. En 4 de 6 centros de interconexión hay nodos de plataformas extranjeras: el parque es puerta de entrada.</a:t>
            </a:r>
            <a:endParaRPr lang="en-US" sz="1400" dirty="0"/>
          </a:p>
        </p:txBody>
      </p:sp>
      <p:sp>
        <p:nvSpPr>
          <p:cNvPr id="36" name="Text 33"/>
          <p:cNvSpPr/>
          <p:nvPr/>
        </p:nvSpPr>
        <p:spPr>
          <a:xfrm>
            <a:off x="7287768" y="4754880"/>
            <a:ext cx="4306824" cy="320040"/>
          </a:xfrm>
          <a:prstGeom prst="rect">
            <a:avLst/>
          </a:prstGeom>
          <a:noFill/>
          <a:ln/>
        </p:spPr>
        <p:txBody>
          <a:bodyPr wrap="square" lIns="0" tIns="0" rIns="0" bIns="0" rtlCol="0" anchor="ctr"/>
          <a:lstStyle/>
          <a:p>
            <a:pPr indent="0" marL="0">
              <a:buNone/>
            </a:pPr>
            <a:r>
              <a:rPr lang="en-US" sz="1300" b="1" dirty="0">
                <a:solidFill>
                  <a:srgbClr val="1B6B7A"/>
                </a:solidFill>
                <a:latin typeface="Cambria" pitchFamily="34" charset="0"/>
                <a:ea typeface="Cambria" pitchFamily="34" charset="-122"/>
                <a:cs typeface="Cambria" pitchFamily="34" charset="-120"/>
              </a:rPr>
              <a:t>En el kit</a:t>
            </a:r>
            <a:endParaRPr lang="en-US" sz="1300" dirty="0"/>
          </a:p>
        </p:txBody>
      </p:sp>
      <p:sp>
        <p:nvSpPr>
          <p:cNvPr id="37" name="Shape 34"/>
          <p:cNvSpPr/>
          <p:nvPr/>
        </p:nvSpPr>
        <p:spPr>
          <a:xfrm>
            <a:off x="7287768" y="5120640"/>
            <a:ext cx="4306824" cy="868680"/>
          </a:xfrm>
          <a:prstGeom prst="rect">
            <a:avLst/>
          </a:prstGeom>
          <a:solidFill>
            <a:srgbClr val="1E2A3A"/>
          </a:solidFill>
          <a:ln/>
        </p:spPr>
      </p:sp>
      <p:sp>
        <p:nvSpPr>
          <p:cNvPr id="38" name="Text 35"/>
          <p:cNvSpPr/>
          <p:nvPr/>
        </p:nvSpPr>
        <p:spPr>
          <a:xfrm>
            <a:off x="7470648" y="5120640"/>
            <a:ext cx="3941064" cy="868680"/>
          </a:xfrm>
          <a:prstGeom prst="rect">
            <a:avLst/>
          </a:prstGeom>
          <a:noFill/>
          <a:ln/>
        </p:spPr>
        <p:txBody>
          <a:bodyPr wrap="square" lIns="0" tIns="0" rIns="0" bIns="0" rtlCol="0" anchor="ctr"/>
          <a:lstStyle/>
          <a:p>
            <a:pPr indent="0" marL="0">
              <a:buNone/>
            </a:pPr>
            <a:r>
              <a:rPr lang="en-US" sz="1100" dirty="0">
                <a:solidFill>
                  <a:srgbClr val="D7E3E8"/>
                </a:solidFill>
                <a:latin typeface="Consolas" pitchFamily="34" charset="0"/>
                <a:ea typeface="Consolas" pitchFamily="34" charset="-122"/>
                <a:cs typeface="Consolas" pitchFamily="34" charset="-120"/>
              </a:rPr>
              <a:t>python -m kit.fuentes.peeringdb</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python -m kit.localizacion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3 · PROCEDIMIENTO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1B6B7A"/>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Aduana: una canasta por componentes, dos canastas y empalmes</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09</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463040"/>
            <a:ext cx="11027664" cy="548640"/>
          </a:xfrm>
          <a:prstGeom prst="roundRect">
            <a:avLst>
              <a:gd name="adj" fmla="val 10000"/>
            </a:avLst>
          </a:prstGeom>
          <a:solidFill>
            <a:srgbClr val="EEF3F5"/>
          </a:solidFill>
          <a:ln/>
        </p:spPr>
      </p:sp>
      <p:sp>
        <p:nvSpPr>
          <p:cNvPr id="25" name="Text 22"/>
          <p:cNvSpPr/>
          <p:nvPr/>
        </p:nvSpPr>
        <p:spPr>
          <a:xfrm>
            <a:off x="841248" y="1463040"/>
            <a:ext cx="10479024" cy="548640"/>
          </a:xfrm>
          <a:prstGeom prst="rect">
            <a:avLst/>
          </a:prstGeom>
          <a:noFill/>
          <a:ln/>
        </p:spPr>
        <p:txBody>
          <a:bodyPr wrap="square" lIns="0" tIns="0" rIns="0" bIns="0" rtlCol="0" anchor="ctr"/>
          <a:lstStyle/>
          <a:p>
            <a:pPr indent="0" marL="0">
              <a:buNone/>
            </a:pPr>
            <a:r>
              <a:rPr lang="en-US" sz="1350" b="1" dirty="0">
                <a:solidFill>
                  <a:srgbClr val="1B6B7A"/>
                </a:solidFill>
                <a:latin typeface="Calibri" pitchFamily="34" charset="0"/>
                <a:ea typeface="Calibri" pitchFamily="34" charset="-122"/>
                <a:cs typeface="Calibri" pitchFamily="34" charset="-120"/>
              </a:rPr>
              <a:t>Pregunta  </a:t>
            </a:r>
            <a:pPr indent="0" marL="0">
              <a:buNone/>
            </a:pPr>
            <a:r>
              <a:rPr lang="en-US" sz="1350" dirty="0">
                <a:solidFill>
                  <a:srgbClr val="1E293B"/>
                </a:solidFill>
                <a:latin typeface="Calibri" pitchFamily="34" charset="0"/>
                <a:ea typeface="Calibri" pitchFamily="34" charset="-122"/>
                <a:cs typeface="Calibri" pitchFamily="34" charset="-120"/>
              </a:rPr>
              <a:t>¿Entra por la aduana el equipamiento que la IA requiere? ¿Cuándo entró más?</a:t>
            </a:r>
            <a:endParaRPr lang="en-US" sz="1350" dirty="0"/>
          </a:p>
        </p:txBody>
      </p:sp>
      <p:sp>
        <p:nvSpPr>
          <p:cNvPr id="26" name="Text 23"/>
          <p:cNvSpPr/>
          <p:nvPr/>
        </p:nvSpPr>
        <p:spPr>
          <a:xfrm>
            <a:off x="566928" y="2194560"/>
            <a:ext cx="3566160"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Fuentes</a:t>
            </a:r>
            <a:endParaRPr lang="en-US" sz="1500" dirty="0"/>
          </a:p>
        </p:txBody>
      </p:sp>
      <p:sp>
        <p:nvSpPr>
          <p:cNvPr id="27" name="Text 24"/>
          <p:cNvSpPr/>
          <p:nvPr/>
        </p:nvSpPr>
        <p:spPr>
          <a:xfrm>
            <a:off x="566928" y="2606040"/>
            <a:ext cx="3566160" cy="3566160"/>
          </a:xfrm>
          <a:prstGeom prst="rect">
            <a:avLst/>
          </a:prstGeom>
          <a:noFill/>
          <a:ln/>
        </p:spPr>
        <p:txBody>
          <a:bodyPr wrap="square" lIns="0" tIns="0" rIns="0" bIns="0" rtlCol="0" anchor="t"/>
          <a:lstStyle/>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Aduana nacional: valor CIF, kilos y origen, al mayor detalle disponible</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Canasta común a 6 dígitos del SA (config/canasta_sa6.csv)</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Deflactor: CPI-U; como sensibilidad, el índice de precios de importación de computadoras</a:t>
            </a:r>
            <a:endParaRPr lang="en-US" sz="1150" dirty="0"/>
          </a:p>
        </p:txBody>
      </p:sp>
      <p:sp>
        <p:nvSpPr>
          <p:cNvPr id="28" name="Text 25"/>
          <p:cNvSpPr/>
          <p:nvPr/>
        </p:nvSpPr>
        <p:spPr>
          <a:xfrm>
            <a:off x="4498848" y="2194560"/>
            <a:ext cx="7095744"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Procedimiento</a:t>
            </a:r>
            <a:endParaRPr lang="en-US" sz="1500" dirty="0"/>
          </a:p>
        </p:txBody>
      </p:sp>
      <p:sp>
        <p:nvSpPr>
          <p:cNvPr id="29" name="Shape 26"/>
          <p:cNvSpPr/>
          <p:nvPr/>
        </p:nvSpPr>
        <p:spPr>
          <a:xfrm>
            <a:off x="4498848" y="2651760"/>
            <a:ext cx="347472" cy="347472"/>
          </a:xfrm>
          <a:prstGeom prst="ellipse">
            <a:avLst/>
          </a:prstGeom>
          <a:solidFill>
            <a:srgbClr val="2A9D8F"/>
          </a:solidFill>
          <a:ln/>
        </p:spPr>
      </p:sp>
      <p:sp>
        <p:nvSpPr>
          <p:cNvPr id="30" name="Text 27"/>
          <p:cNvSpPr/>
          <p:nvPr/>
        </p:nvSpPr>
        <p:spPr>
          <a:xfrm>
            <a:off x="4498848" y="26517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31" name="Text 28"/>
          <p:cNvSpPr/>
          <p:nvPr/>
        </p:nvSpPr>
        <p:spPr>
          <a:xfrm>
            <a:off x="4974336" y="259689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Canasta por capas: cómputo, red, almacenamiento, energía, refrigeración, estructura</a:t>
            </a:r>
            <a:endParaRPr lang="en-US" sz="1200" dirty="0"/>
          </a:p>
        </p:txBody>
      </p:sp>
      <p:sp>
        <p:nvSpPr>
          <p:cNvPr id="32" name="Shape 29"/>
          <p:cNvSpPr/>
          <p:nvPr/>
        </p:nvSpPr>
        <p:spPr>
          <a:xfrm>
            <a:off x="4498848" y="3200400"/>
            <a:ext cx="347472" cy="347472"/>
          </a:xfrm>
          <a:prstGeom prst="ellipse">
            <a:avLst/>
          </a:prstGeom>
          <a:solidFill>
            <a:srgbClr val="2A9D8F"/>
          </a:solidFill>
          <a:ln/>
        </p:spPr>
      </p:sp>
      <p:sp>
        <p:nvSpPr>
          <p:cNvPr id="33" name="Text 30"/>
          <p:cNvSpPr/>
          <p:nvPr/>
        </p:nvSpPr>
        <p:spPr>
          <a:xfrm>
            <a:off x="4498848" y="320040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4974336" y="314553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Dos canastas: AEE estricta (va al RAEE) e inversión (suma energía y refrigeración)</a:t>
            </a:r>
            <a:endParaRPr lang="en-US" sz="1200" dirty="0"/>
          </a:p>
        </p:txBody>
      </p:sp>
      <p:sp>
        <p:nvSpPr>
          <p:cNvPr id="35" name="Shape 32"/>
          <p:cNvSpPr/>
          <p:nvPr/>
        </p:nvSpPr>
        <p:spPr>
          <a:xfrm>
            <a:off x="4498848" y="3749040"/>
            <a:ext cx="347472" cy="347472"/>
          </a:xfrm>
          <a:prstGeom prst="ellipse">
            <a:avLst/>
          </a:prstGeom>
          <a:solidFill>
            <a:srgbClr val="2A9D8F"/>
          </a:solidFill>
          <a:ln/>
        </p:spPr>
      </p:sp>
      <p:sp>
        <p:nvSpPr>
          <p:cNvPr id="36" name="Text 33"/>
          <p:cNvSpPr/>
          <p:nvPr/>
        </p:nvSpPr>
        <p:spPr>
          <a:xfrm>
            <a:off x="4498848" y="374904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37" name="Text 34"/>
          <p:cNvSpPr/>
          <p:nvPr/>
        </p:nvSpPr>
        <p:spPr>
          <a:xfrm>
            <a:off x="4974336" y="369417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Empalmar los códigos que cruzan enmiendas del SA</a:t>
            </a:r>
            <a:endParaRPr lang="en-US" sz="1200" dirty="0"/>
          </a:p>
        </p:txBody>
      </p:sp>
      <p:sp>
        <p:nvSpPr>
          <p:cNvPr id="38" name="Shape 35"/>
          <p:cNvSpPr/>
          <p:nvPr/>
        </p:nvSpPr>
        <p:spPr>
          <a:xfrm>
            <a:off x="4498848" y="4297680"/>
            <a:ext cx="347472" cy="347472"/>
          </a:xfrm>
          <a:prstGeom prst="ellipse">
            <a:avLst/>
          </a:prstGeom>
          <a:solidFill>
            <a:srgbClr val="2A9D8F"/>
          </a:solidFill>
          <a:ln/>
        </p:spPr>
      </p:sp>
      <p:sp>
        <p:nvSpPr>
          <p:cNvPr id="39" name="Text 36"/>
          <p:cNvSpPr/>
          <p:nvPr/>
        </p:nvSpPr>
        <p:spPr>
          <a:xfrm>
            <a:off x="4498848" y="429768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40" name="Text 37"/>
          <p:cNvSpPr/>
          <p:nvPr/>
        </p:nvSpPr>
        <p:spPr>
          <a:xfrm>
            <a:off x="4974336" y="424281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Después de cada carga, listar los códigos vacíos</a:t>
            </a:r>
            <a:endParaRPr lang="en-US" sz="1200" dirty="0"/>
          </a:p>
        </p:txBody>
      </p:sp>
      <p:sp>
        <p:nvSpPr>
          <p:cNvPr id="41" name="Shape 38"/>
          <p:cNvSpPr/>
          <p:nvPr/>
        </p:nvSpPr>
        <p:spPr>
          <a:xfrm>
            <a:off x="4498848" y="4846320"/>
            <a:ext cx="347472" cy="347472"/>
          </a:xfrm>
          <a:prstGeom prst="ellipse">
            <a:avLst/>
          </a:prstGeom>
          <a:solidFill>
            <a:srgbClr val="2A9D8F"/>
          </a:solidFill>
          <a:ln/>
        </p:spPr>
      </p:sp>
      <p:sp>
        <p:nvSpPr>
          <p:cNvPr id="42" name="Text 39"/>
          <p:cNvSpPr/>
          <p:nvPr/>
        </p:nvSpPr>
        <p:spPr>
          <a:xfrm>
            <a:off x="4498848" y="484632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43" name="Text 40"/>
          <p:cNvSpPr/>
          <p:nvPr/>
        </p:nvSpPr>
        <p:spPr>
          <a:xfrm>
            <a:off x="4974336" y="479145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Deflactar y leer también en toneladas</a:t>
            </a:r>
            <a:endParaRPr lang="en-US" sz="1200" dirty="0"/>
          </a:p>
        </p:txBody>
      </p:sp>
      <p:sp>
        <p:nvSpPr>
          <p:cNvPr id="44" name="Shape 41"/>
          <p:cNvSpPr/>
          <p:nvPr/>
        </p:nvSpPr>
        <p:spPr>
          <a:xfrm>
            <a:off x="4498848" y="5394960"/>
            <a:ext cx="347472" cy="347472"/>
          </a:xfrm>
          <a:prstGeom prst="ellipse">
            <a:avLst/>
          </a:prstGeom>
          <a:solidFill>
            <a:srgbClr val="2A9D8F"/>
          </a:solidFill>
          <a:ln/>
        </p:spPr>
      </p:sp>
      <p:sp>
        <p:nvSpPr>
          <p:cNvPr id="45" name="Text 42"/>
          <p:cNvSpPr/>
          <p:nvPr/>
        </p:nvSpPr>
        <p:spPr>
          <a:xfrm>
            <a:off x="4498848" y="53949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46" name="Text 43"/>
          <p:cNvSpPr/>
          <p:nvPr/>
        </p:nvSpPr>
        <p:spPr>
          <a:xfrm>
            <a:off x="4974336" y="534009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Medir qué parte del cómputo entra como sistema completo</a:t>
            </a:r>
            <a:endParaRPr lang="en-US" sz="1200" dirty="0"/>
          </a:p>
        </p:txBody>
      </p:sp>
      <p:sp>
        <p:nvSpPr>
          <p:cNvPr id="47" name="Text 44"/>
          <p:cNvSpPr/>
          <p:nvPr/>
        </p:nvSpPr>
        <p:spPr>
          <a:xfrm>
            <a:off x="4498848" y="6126480"/>
            <a:ext cx="7095744" cy="256032"/>
          </a:xfrm>
          <a:prstGeom prst="rect">
            <a:avLst/>
          </a:prstGeom>
          <a:noFill/>
          <a:ln/>
        </p:spPr>
        <p:txBody>
          <a:bodyPr wrap="square" lIns="0" tIns="0" rIns="0" bIns="0" rtlCol="0" anchor="ctr"/>
          <a:lstStyle/>
          <a:p>
            <a:pPr algn="r" indent="0" marL="0">
              <a:buNone/>
            </a:pPr>
            <a:r>
              <a:rPr lang="en-US" sz="1000" dirty="0">
                <a:solidFill>
                  <a:srgbClr val="5B6B7A"/>
                </a:solidFill>
                <a:latin typeface="Consolas" pitchFamily="34" charset="0"/>
                <a:ea typeface="Consolas" pitchFamily="34" charset="-122"/>
                <a:cs typeface="Consolas" pitchFamily="34" charset="-120"/>
              </a:rPr>
              <a:t>Ficha: docs/03_aduana.md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3 · LA CANASTA</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1B6B7A"/>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La canasta: qué posiciones miramos y por qué (lo primero a corregir por país)</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10</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508760"/>
          <a:ext cx="6949440" cy="914400"/>
        </p:xfrm>
        <a:graphic>
          <a:graphicData uri="http://schemas.openxmlformats.org/drawingml/2006/table">
            <a:tbl>
              <a:tblPr/>
              <a:tblGrid>
                <a:gridCol w="1051560"/>
                <a:gridCol w="2148840"/>
                <a:gridCol w="1097280"/>
                <a:gridCol w="265176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Capa</a:t>
                      </a:r>
                      <a:endParaRPr lang="en-US" sz="105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solidFill>
                      <a:srgbClr val="1B6B7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SA 6 dígitos</a:t>
                      </a:r>
                      <a:endParaRPr lang="en-US" sz="105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solidFill>
                      <a:srgbClr val="1B6B7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Canasta</a:t>
                      </a:r>
                      <a:endParaRPr lang="en-US" sz="105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solidFill>
                      <a:srgbClr val="1B6B7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Por qué / cuidado</a:t>
                      </a:r>
                      <a:endParaRPr lang="en-US" sz="105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solidFill>
                      <a:srgbClr val="1B6B7A"/>
                    </a:solidFill>
                  </a:tcPr>
                </a:tc>
              </a:tr>
              <a:tr h="457200">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Cómputo</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8471.41 · .49 · .50 · .70 · .80</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AEE</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Servidores y sistemas; .49 suele recibir los sistemas acelerados completos</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r>
              <a:tr h="457200">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Cómputo</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8473.30</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AEE (cota sup.)</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Partes: aquí caen las GPU sueltas, mezcladas con uso doméstico</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r>
              <a:tr h="457200">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Red</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8517.62 · 8517.70→.71/.79</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AEE</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Conmutadores; partes divididas por la enmienda 2022</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r>
              <a:tr h="457200">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Energía</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8504.40 · 8504.2x · 8502.1x · 8537</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Inversión</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UPS, transformadores, grupos, tableros: cota superior</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r>
              <a:tr h="457200">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Baterías</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8507.20 · 8507.60</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Serie aparte</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Plomo (no de arranque) y litio, sin atribuir</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r>
              <a:tr h="457200">
                <a:tc>
                  <a:txBody>
                    <a:bodyPr/>
                    <a:lstStyle/>
                    <a:p>
                      <a:pPr indent="0" marL="0">
                        <a:buNone/>
                      </a:pPr>
                      <a:r>
                        <a:rPr lang="en-US" sz="1000" b="1" dirty="0">
                          <a:solidFill>
                            <a:srgbClr val="1E293B"/>
                          </a:solidFill>
                          <a:latin typeface="Calibri" pitchFamily="34" charset="0"/>
                          <a:ea typeface="Calibri" pitchFamily="34" charset="-122"/>
                          <a:cs typeface="Calibri" pitchFamily="34" charset="-120"/>
                        </a:rPr>
                        <a:t>Refrigeración</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8415.82/.83 · 8418.69 · 8419.50</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Inversión</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CRAC, chillers, CDU de refrigeración líquida</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r>
              <a:tr h="457200">
                <a:tc>
                  <a:txBody>
                    <a:bodyPr/>
                    <a:lstStyle/>
                    <a:p>
                      <a:pPr indent="0" marL="0">
                        <a:buNone/>
                      </a:pPr>
                      <a:r>
                        <a:rPr lang="en-US" sz="1000" b="1" dirty="0">
                          <a:solidFill>
                            <a:srgbClr val="B5402E"/>
                          </a:solidFill>
                          <a:latin typeface="Calibri" pitchFamily="34" charset="0"/>
                          <a:ea typeface="Calibri" pitchFamily="34" charset="-122"/>
                          <a:cs typeface="Calibri" pitchFamily="34" charset="-120"/>
                        </a:rPr>
                        <a:t>Fuera</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B5402E"/>
                          </a:solidFill>
                          <a:latin typeface="Calibri" pitchFamily="34" charset="0"/>
                          <a:ea typeface="Calibri" pitchFamily="34" charset="-122"/>
                          <a:cs typeface="Calibri" pitchFamily="34" charset="-120"/>
                        </a:rPr>
                        <a:t>8543.70 · 8507.10</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B540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c>
                  <a:txBody>
                    <a:bodyPr/>
                    <a:lstStyle/>
                    <a:p>
                      <a:pPr indent="0" marL="0">
                        <a:buNone/>
                      </a:pPr>
                      <a:r>
                        <a:rPr lang="en-US" sz="1000" dirty="0">
                          <a:solidFill>
                            <a:srgbClr val="B5402E"/>
                          </a:solidFill>
                          <a:latin typeface="Calibri" pitchFamily="34" charset="0"/>
                          <a:ea typeface="Calibri" pitchFamily="34" charset="-122"/>
                          <a:cs typeface="Calibri" pitchFamily="34" charset="-120"/>
                        </a:rPr>
                        <a:t>Minería cripto; baterías de arranque</a:t>
                      </a:r>
                      <a:endParaRPr lang="en-US" sz="1000" dirty="0">
                        <a:latin typeface="Calibri" charset="0"/>
                        <a:ea typeface="Calibri" charset="0"/>
                        <a:cs typeface="Calibri" charset="0"/>
                      </a:endParaRPr>
                    </a:p>
                  </a:txBody>
                  <a:tcPr marL="45720" marR="45720" marT="45720" marB="45720" anchor="ctr">
                    <a:lnL w="6350" cap="flat" cmpd="sng" algn="ctr">
                      <a:solidFill>
                        <a:srgbClr val="CBD7DC"/>
                      </a:solidFill>
                      <a:prstDash val="solid"/>
                      <a:round/>
                      <a:headEnd type="none" w="med" len="med"/>
                      <a:tailEnd type="none" w="med" len="med"/>
                    </a:lnL>
                    <a:lnR w="6350" cap="flat" cmpd="sng" algn="ctr">
                      <a:solidFill>
                        <a:srgbClr val="CBD7DC"/>
                      </a:solidFill>
                      <a:prstDash val="solid"/>
                      <a:round/>
                      <a:headEnd type="none" w="med" len="med"/>
                      <a:tailEnd type="none" w="med" len="med"/>
                    </a:lnR>
                    <a:lnT w="6350" cap="flat" cmpd="sng" algn="ctr">
                      <a:solidFill>
                        <a:srgbClr val="CBD7DC"/>
                      </a:solidFill>
                      <a:prstDash val="solid"/>
                      <a:round/>
                      <a:headEnd type="none" w="med" len="med"/>
                      <a:tailEnd type="none" w="med" len="med"/>
                    </a:lnT>
                    <a:lnB w="6350" cap="flat" cmpd="sng" algn="ctr">
                      <a:solidFill>
                        <a:srgbClr val="CBD7DC"/>
                      </a:solidFill>
                      <a:prstDash val="solid"/>
                      <a:round/>
                      <a:headEnd type="none" w="med" len="med"/>
                      <a:tailEnd type="none" w="med" len="med"/>
                    </a:lnB>
                  </a:tcPr>
                </a:tc>
              </a:tr>
            </a:tbl>
          </a:graphicData>
        </a:graphic>
      </p:graphicFrame>
      <p:sp>
        <p:nvSpPr>
          <p:cNvPr id="25" name="Shape 21"/>
          <p:cNvSpPr/>
          <p:nvPr/>
        </p:nvSpPr>
        <p:spPr>
          <a:xfrm>
            <a:off x="7790688" y="1508760"/>
            <a:ext cx="3803904" cy="3840480"/>
          </a:xfrm>
          <a:prstGeom prst="roundRect">
            <a:avLst>
              <a:gd name="adj" fmla="val 1923"/>
            </a:avLst>
          </a:prstGeom>
          <a:solidFill>
            <a:srgbClr val="F7F0E4"/>
          </a:solidFill>
          <a:ln/>
        </p:spPr>
      </p:sp>
      <p:sp>
        <p:nvSpPr>
          <p:cNvPr id="26" name="Text 22"/>
          <p:cNvSpPr/>
          <p:nvPr/>
        </p:nvSpPr>
        <p:spPr>
          <a:xfrm>
            <a:off x="8019288" y="1600200"/>
            <a:ext cx="3346704" cy="3657600"/>
          </a:xfrm>
          <a:prstGeom prst="rect">
            <a:avLst/>
          </a:prstGeom>
          <a:noFill/>
          <a:ln/>
        </p:spPr>
        <p:txBody>
          <a:bodyPr wrap="square" lIns="0" tIns="0" rIns="0" bIns="0" rtlCol="0" anchor="t"/>
          <a:lstStyle/>
          <a:p>
            <a:pPr indent="0" marL="0">
              <a:lnSpc>
                <a:spcPct val="110000"/>
              </a:lnSpc>
              <a:buNone/>
            </a:pPr>
            <a:r>
              <a:rPr lang="en-US" sz="1400" b="1" dirty="0">
                <a:solidFill>
                  <a:srgbClr val="B7791F"/>
                </a:solidFill>
                <a:latin typeface="Calibri" pitchFamily="34" charset="0"/>
                <a:ea typeface="Calibri" pitchFamily="34" charset="-122"/>
                <a:cs typeface="Calibri" pitchFamily="34" charset="-120"/>
              </a:rPr>
              <a:t>México: ¿dónde están las GPU?</a:t>
            </a:r>
            <a:endParaRPr lang="en-US" sz="1150" dirty="0"/>
          </a:p>
          <a:p>
            <a:pPr indent="0" marL="0">
              <a:lnSpc>
                <a:spcPct val="110000"/>
              </a:lnSpc>
              <a:buNone/>
            </a:pPr>
            <a:r>
              <a:rPr lang="en-US" sz="500" dirty="0">
                <a:solidFill>
                  <a:srgbClr val="1E293B"/>
                </a:solidFill>
                <a:latin typeface="Calibri" pitchFamily="34" charset="0"/>
                <a:ea typeface="Calibri" pitchFamily="34" charset="-122"/>
                <a:cs typeface="Calibri" pitchFamily="34" charset="-120"/>
              </a:rPr>
              <a:t> </a:t>
            </a:r>
            <a:endParaRPr lang="en-US" sz="1150" dirty="0"/>
          </a:p>
          <a:p>
            <a:pPr indent="0" marL="0">
              <a:lnSpc>
                <a:spcPct val="110000"/>
              </a:lnSpc>
              <a:buNone/>
            </a:pPr>
            <a:r>
              <a:rPr lang="en-US" sz="1150" b="1" dirty="0">
                <a:solidFill>
                  <a:srgbClr val="1E293B"/>
                </a:solidFill>
                <a:latin typeface="Calibri" pitchFamily="34" charset="0"/>
                <a:ea typeface="Calibri" pitchFamily="34" charset="-122"/>
                <a:cs typeface="Calibri" pitchFamily="34" charset="-120"/>
              </a:rPr>
              <a:t>1. Posición.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Suelta, en 8473.30; en sistema completo, en 8471.41/.49/.50. Revisar la apertura TIGIE + NICO.</a:t>
            </a:r>
            <a:endParaRPr lang="en-US" sz="1150" dirty="0"/>
          </a:p>
          <a:p>
            <a:pPr indent="0" marL="0">
              <a:lnSpc>
                <a:spcPct val="110000"/>
              </a:lnSpc>
              <a:buNone/>
            </a:pPr>
            <a:r>
              <a:rPr lang="en-US" sz="500" dirty="0">
                <a:solidFill>
                  <a:srgbClr val="1E293B"/>
                </a:solidFill>
                <a:latin typeface="Calibri" pitchFamily="34" charset="0"/>
                <a:ea typeface="Calibri" pitchFamily="34" charset="-122"/>
                <a:cs typeface="Calibri" pitchFamily="34" charset="-120"/>
              </a:rPr>
              <a:t> </a:t>
            </a:r>
            <a:endParaRPr lang="en-US" sz="1150" dirty="0"/>
          </a:p>
          <a:p>
            <a:pPr indent="0" marL="0">
              <a:lnSpc>
                <a:spcPct val="110000"/>
              </a:lnSpc>
              <a:buNone/>
            </a:pPr>
            <a:r>
              <a:rPr lang="en-US" sz="1150" b="1" dirty="0">
                <a:solidFill>
                  <a:srgbClr val="1E293B"/>
                </a:solidFill>
                <a:latin typeface="Calibri" pitchFamily="34" charset="0"/>
                <a:ea typeface="Calibri" pitchFamily="34" charset="-122"/>
                <a:cs typeface="Calibri" pitchFamily="34" charset="-120"/>
              </a:rPr>
              <a:t>2. Régimen.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México ensambla para exportar (IMMEX): separar la importación definitiva de la temporal antes de leer capacidad instalada.</a:t>
            </a:r>
            <a:endParaRPr lang="en-US" sz="1150" dirty="0"/>
          </a:p>
          <a:p>
            <a:pPr indent="0" marL="0">
              <a:lnSpc>
                <a:spcPct val="110000"/>
              </a:lnSpc>
              <a:buNone/>
            </a:pPr>
            <a:r>
              <a:rPr lang="en-US" sz="500" dirty="0">
                <a:solidFill>
                  <a:srgbClr val="1E293B"/>
                </a:solidFill>
                <a:latin typeface="Calibri" pitchFamily="34" charset="0"/>
                <a:ea typeface="Calibri" pitchFamily="34" charset="-122"/>
                <a:cs typeface="Calibri" pitchFamily="34" charset="-120"/>
              </a:rPr>
              <a:t> </a:t>
            </a:r>
            <a:endParaRPr lang="en-US" sz="1150" dirty="0"/>
          </a:p>
          <a:p>
            <a:pPr indent="0" marL="0">
              <a:lnSpc>
                <a:spcPct val="110000"/>
              </a:lnSpc>
              <a:buNone/>
            </a:pPr>
            <a:r>
              <a:rPr lang="en-US" sz="1150" b="1" dirty="0">
                <a:solidFill>
                  <a:srgbClr val="1E293B"/>
                </a:solidFill>
                <a:latin typeface="Calibri" pitchFamily="34" charset="0"/>
                <a:ea typeface="Calibri" pitchFamily="34" charset="-122"/>
                <a:cs typeface="Calibri" pitchFamily="34" charset="-120"/>
              </a:rPr>
              <a:t>3. Espejo.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Contrastar con lo que exportan EE.UU. y Asia a México, y con lo que México reexporta.</a:t>
            </a:r>
            <a:endParaRPr lang="en-US" sz="1150" dirty="0"/>
          </a:p>
        </p:txBody>
      </p:sp>
      <p:sp>
        <p:nvSpPr>
          <p:cNvPr id="27" name="Shape 23"/>
          <p:cNvSpPr/>
          <p:nvPr/>
        </p:nvSpPr>
        <p:spPr>
          <a:xfrm>
            <a:off x="566928" y="5532120"/>
            <a:ext cx="11027664" cy="685800"/>
          </a:xfrm>
          <a:prstGeom prst="roundRect">
            <a:avLst>
              <a:gd name="adj" fmla="val 8000"/>
            </a:avLst>
          </a:prstGeom>
          <a:solidFill>
            <a:srgbClr val="14213D"/>
          </a:solidFill>
          <a:ln/>
        </p:spPr>
      </p:sp>
      <p:sp>
        <p:nvSpPr>
          <p:cNvPr id="28" name="Text 24"/>
          <p:cNvSpPr/>
          <p:nvPr/>
        </p:nvSpPr>
        <p:spPr>
          <a:xfrm>
            <a:off x="886968" y="5532120"/>
            <a:ext cx="10387584" cy="685800"/>
          </a:xfrm>
          <a:prstGeom prst="rect">
            <a:avLst/>
          </a:prstGeom>
          <a:noFill/>
          <a:ln/>
        </p:spPr>
        <p:txBody>
          <a:bodyPr wrap="square" lIns="0" tIns="0" rIns="0" bIns="0" rtlCol="0" anchor="ctr"/>
          <a:lstStyle/>
          <a:p>
            <a:pPr indent="0" marL="0">
              <a:lnSpc>
                <a:spcPct val="110000"/>
              </a:lnSpc>
              <a:buNone/>
            </a:pPr>
            <a:r>
              <a:rPr lang="en-US" sz="1250" b="1" dirty="0">
                <a:solidFill>
                  <a:srgbClr val="2A9D8F"/>
                </a:solidFill>
                <a:latin typeface="Calibri" pitchFamily="34" charset="0"/>
                <a:ea typeface="Calibri" pitchFamily="34" charset="-122"/>
                <a:cs typeface="Calibri" pitchFamily="34" charset="-120"/>
              </a:rPr>
              <a:t>Explicación completa:  </a:t>
            </a:r>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docs/canasta.md · correcciones por país: issue «Clasificación arancelaria».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3 · TRAMPAS Y RESULTADO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1B6B7A"/>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Aduana: cuando la nomenclatura fabrica tendencias</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11</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Text 21"/>
          <p:cNvSpPr/>
          <p:nvPr/>
        </p:nvSpPr>
        <p:spPr>
          <a:xfrm>
            <a:off x="566928" y="1463040"/>
            <a:ext cx="6400800" cy="365760"/>
          </a:xfrm>
          <a:prstGeom prst="rect">
            <a:avLst/>
          </a:prstGeom>
          <a:noFill/>
          <a:ln/>
        </p:spPr>
        <p:txBody>
          <a:bodyPr wrap="square" lIns="0" tIns="0" rIns="0" bIns="0" rtlCol="0" anchor="ctr"/>
          <a:lstStyle/>
          <a:p>
            <a:pPr indent="0" marL="0">
              <a:buNone/>
            </a:pPr>
            <a:r>
              <a:rPr lang="en-US" sz="1500" b="1" dirty="0">
                <a:solidFill>
                  <a:srgbClr val="B5402E"/>
                </a:solidFill>
                <a:latin typeface="Cambria" pitchFamily="34" charset="0"/>
                <a:ea typeface="Cambria" pitchFamily="34" charset="-122"/>
                <a:cs typeface="Cambria" pitchFamily="34" charset="-120"/>
              </a:rPr>
              <a:t>Lo que nos hizo equivocar</a:t>
            </a:r>
            <a:endParaRPr lang="en-US" sz="1500" dirty="0"/>
          </a:p>
        </p:txBody>
      </p:sp>
      <p:sp>
        <p:nvSpPr>
          <p:cNvPr id="25" name="Shape 22"/>
          <p:cNvSpPr/>
          <p:nvPr/>
        </p:nvSpPr>
        <p:spPr>
          <a:xfrm>
            <a:off x="566928" y="192024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566928" y="1965960"/>
            <a:ext cx="73152" cy="1036320"/>
          </a:xfrm>
          <a:prstGeom prst="rect">
            <a:avLst/>
          </a:prstGeom>
          <a:solidFill>
            <a:srgbClr val="B5402E"/>
          </a:solidFill>
          <a:ln/>
        </p:spPr>
      </p:sp>
      <p:sp>
        <p:nvSpPr>
          <p:cNvPr id="27" name="Text 24"/>
          <p:cNvSpPr/>
          <p:nvPr/>
        </p:nvSpPr>
        <p:spPr>
          <a:xfrm>
            <a:off x="795528" y="197510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La enmienda 2022 del SA.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Los códigos viejos no estaban en la canasta y la aduana devolvía vacío sin error: un falso máximo histórico en 2025.</a:t>
            </a:r>
            <a:endParaRPr lang="en-US" sz="1150" dirty="0"/>
          </a:p>
        </p:txBody>
      </p:sp>
      <p:sp>
        <p:nvSpPr>
          <p:cNvPr id="28" name="Shape 25"/>
          <p:cNvSpPr/>
          <p:nvPr/>
        </p:nvSpPr>
        <p:spPr>
          <a:xfrm>
            <a:off x="566928" y="318516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9" name="Shape 26"/>
          <p:cNvSpPr/>
          <p:nvPr/>
        </p:nvSpPr>
        <p:spPr>
          <a:xfrm>
            <a:off x="566928" y="3230880"/>
            <a:ext cx="73152" cy="1036320"/>
          </a:xfrm>
          <a:prstGeom prst="rect">
            <a:avLst/>
          </a:prstGeom>
          <a:solidFill>
            <a:srgbClr val="B5402E"/>
          </a:solidFill>
          <a:ln/>
        </p:spPr>
      </p:sp>
      <p:sp>
        <p:nvSpPr>
          <p:cNvPr id="30" name="Text 27"/>
          <p:cNvSpPr/>
          <p:nvPr/>
        </p:nvSpPr>
        <p:spPr>
          <a:xfrm>
            <a:off x="795528" y="324002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El acelerador viaja dentro del sistema.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El 87% del cómputo de 2025 entró como sistema completo: la estadística no ve la GPU.</a:t>
            </a:r>
            <a:endParaRPr lang="en-US" sz="1150" dirty="0"/>
          </a:p>
        </p:txBody>
      </p:sp>
      <p:sp>
        <p:nvSpPr>
          <p:cNvPr id="31" name="Shape 28"/>
          <p:cNvSpPr/>
          <p:nvPr/>
        </p:nvSpPr>
        <p:spPr>
          <a:xfrm>
            <a:off x="566928" y="445008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2" name="Shape 29"/>
          <p:cNvSpPr/>
          <p:nvPr/>
        </p:nvSpPr>
        <p:spPr>
          <a:xfrm>
            <a:off x="566928" y="4495800"/>
            <a:ext cx="73152" cy="1036320"/>
          </a:xfrm>
          <a:prstGeom prst="rect">
            <a:avLst/>
          </a:prstGeom>
          <a:solidFill>
            <a:srgbClr val="B5402E"/>
          </a:solidFill>
          <a:ln/>
        </p:spPr>
      </p:sp>
      <p:sp>
        <p:nvSpPr>
          <p:cNvPr id="33" name="Text 30"/>
          <p:cNvSpPr/>
          <p:nvPr/>
        </p:nvSpPr>
        <p:spPr>
          <a:xfrm>
            <a:off x="795528" y="450494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Códigos sin predecesor.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8471.70.40 (SSD) y 9403.20.90 (racks): no leer crecimientos antes de resolverlos.</a:t>
            </a:r>
            <a:endParaRPr lang="en-US" sz="1150" dirty="0"/>
          </a:p>
        </p:txBody>
      </p:sp>
      <p:sp>
        <p:nvSpPr>
          <p:cNvPr id="34" name="Shape 31"/>
          <p:cNvSpPr/>
          <p:nvPr/>
        </p:nvSpPr>
        <p:spPr>
          <a:xfrm>
            <a:off x="7287768" y="1463040"/>
            <a:ext cx="4306824" cy="3108960"/>
          </a:xfrm>
          <a:prstGeom prst="roundRect">
            <a:avLst>
              <a:gd name="adj" fmla="val 2353"/>
            </a:avLst>
          </a:prstGeom>
          <a:solidFill>
            <a:srgbClr val="14213D"/>
          </a:solidFill>
          <a:ln/>
        </p:spPr>
      </p:sp>
      <p:sp>
        <p:nvSpPr>
          <p:cNvPr id="35" name="Text 32"/>
          <p:cNvSpPr/>
          <p:nvPr/>
        </p:nvSpPr>
        <p:spPr>
          <a:xfrm>
            <a:off x="7562088" y="1463040"/>
            <a:ext cx="3758184" cy="3108960"/>
          </a:xfrm>
          <a:prstGeom prst="rect">
            <a:avLst/>
          </a:prstGeom>
          <a:noFill/>
          <a:ln/>
        </p:spPr>
        <p:txBody>
          <a:bodyPr wrap="square" lIns="0" tIns="0" rIns="0" bIns="0" rtlCol="0" anchor="ctr"/>
          <a:lstStyle/>
          <a:p>
            <a:pPr indent="0" marL="0">
              <a:lnSpc>
                <a:spcPct val="115000"/>
              </a:lnSpc>
              <a:buNone/>
            </a:pPr>
            <a:r>
              <a:rPr lang="en-US" sz="1400" b="1" dirty="0">
                <a:solidFill>
                  <a:srgbClr val="2A9D8F"/>
                </a:solidFill>
                <a:latin typeface="Calibri" pitchFamily="34" charset="0"/>
                <a:ea typeface="Calibri" pitchFamily="34" charset="-122"/>
                <a:cs typeface="Calibri" pitchFamily="34" charset="-120"/>
              </a:rPr>
              <a:t>Resultado en Argentina</a:t>
            </a:r>
            <a:endParaRPr lang="en-US" sz="1400" dirty="0"/>
          </a:p>
          <a:p>
            <a:pPr indent="0" marL="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El pico de la importación fue 2008–2011, en dólares constantes y en toneladas. 2025 ocupa el puesto 16 de 24 en valor y el 5º en peso. El auge de la IA no pasa por la aduana.</a:t>
            </a:r>
            <a:endParaRPr lang="en-US" sz="1400" dirty="0"/>
          </a:p>
        </p:txBody>
      </p:sp>
      <p:sp>
        <p:nvSpPr>
          <p:cNvPr id="36" name="Text 33"/>
          <p:cNvSpPr/>
          <p:nvPr/>
        </p:nvSpPr>
        <p:spPr>
          <a:xfrm>
            <a:off x="7287768" y="4754880"/>
            <a:ext cx="4306824" cy="320040"/>
          </a:xfrm>
          <a:prstGeom prst="rect">
            <a:avLst/>
          </a:prstGeom>
          <a:noFill/>
          <a:ln/>
        </p:spPr>
        <p:txBody>
          <a:bodyPr wrap="square" lIns="0" tIns="0" rIns="0" bIns="0" rtlCol="0" anchor="ctr"/>
          <a:lstStyle/>
          <a:p>
            <a:pPr indent="0" marL="0">
              <a:buNone/>
            </a:pPr>
            <a:r>
              <a:rPr lang="en-US" sz="1300" b="1" dirty="0">
                <a:solidFill>
                  <a:srgbClr val="1B6B7A"/>
                </a:solidFill>
                <a:latin typeface="Cambria" pitchFamily="34" charset="0"/>
                <a:ea typeface="Cambria" pitchFamily="34" charset="-122"/>
                <a:cs typeface="Cambria" pitchFamily="34" charset="-120"/>
              </a:rPr>
              <a:t>En el kit</a:t>
            </a:r>
            <a:endParaRPr lang="en-US" sz="1300" dirty="0"/>
          </a:p>
        </p:txBody>
      </p:sp>
      <p:sp>
        <p:nvSpPr>
          <p:cNvPr id="37" name="Shape 34"/>
          <p:cNvSpPr/>
          <p:nvPr/>
        </p:nvSpPr>
        <p:spPr>
          <a:xfrm>
            <a:off x="7287768" y="5120640"/>
            <a:ext cx="4306824" cy="868680"/>
          </a:xfrm>
          <a:prstGeom prst="rect">
            <a:avLst/>
          </a:prstGeom>
          <a:solidFill>
            <a:srgbClr val="1E2A3A"/>
          </a:solidFill>
          <a:ln/>
        </p:spPr>
      </p:sp>
      <p:sp>
        <p:nvSpPr>
          <p:cNvPr id="38" name="Text 35"/>
          <p:cNvSpPr/>
          <p:nvPr/>
        </p:nvSpPr>
        <p:spPr>
          <a:xfrm>
            <a:off x="7470648" y="5120640"/>
            <a:ext cx="3941064" cy="868680"/>
          </a:xfrm>
          <a:prstGeom prst="rect">
            <a:avLst/>
          </a:prstGeom>
          <a:noFill/>
          <a:ln/>
        </p:spPr>
        <p:txBody>
          <a:bodyPr wrap="square" lIns="0" tIns="0" rIns="0" bIns="0" rtlCol="0" anchor="ctr"/>
          <a:lstStyle/>
          <a:p>
            <a:pPr indent="0" marL="0">
              <a:buNone/>
            </a:pPr>
            <a:r>
              <a:rPr lang="en-US" sz="1100" dirty="0">
                <a:solidFill>
                  <a:srgbClr val="D7E3E8"/>
                </a:solidFill>
                <a:latin typeface="Consolas" pitchFamily="34" charset="0"/>
                <a:ea typeface="Consolas" pitchFamily="34" charset="-122"/>
                <a:cs typeface="Consolas" pitchFamily="34" charset="-120"/>
              </a:rPr>
              <a:t>python -m kit.aduana</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 serie, empalme, control de vacíos, deflactor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4 · PROCEDIMIENTO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1B6B7A"/>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Espejo: comparar con lo que declaran los socios</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12</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463040"/>
            <a:ext cx="11027664" cy="548640"/>
          </a:xfrm>
          <a:prstGeom prst="roundRect">
            <a:avLst>
              <a:gd name="adj" fmla="val 10000"/>
            </a:avLst>
          </a:prstGeom>
          <a:solidFill>
            <a:srgbClr val="EEF3F5"/>
          </a:solidFill>
          <a:ln/>
        </p:spPr>
      </p:sp>
      <p:sp>
        <p:nvSpPr>
          <p:cNvPr id="25" name="Text 22"/>
          <p:cNvSpPr/>
          <p:nvPr/>
        </p:nvSpPr>
        <p:spPr>
          <a:xfrm>
            <a:off x="841248" y="1463040"/>
            <a:ext cx="10479024" cy="548640"/>
          </a:xfrm>
          <a:prstGeom prst="rect">
            <a:avLst/>
          </a:prstGeom>
          <a:noFill/>
          <a:ln/>
        </p:spPr>
        <p:txBody>
          <a:bodyPr wrap="square" lIns="0" tIns="0" rIns="0" bIns="0" rtlCol="0" anchor="ctr"/>
          <a:lstStyle/>
          <a:p>
            <a:pPr indent="0" marL="0">
              <a:buNone/>
            </a:pPr>
            <a:r>
              <a:rPr lang="en-US" sz="1350" b="1" dirty="0">
                <a:solidFill>
                  <a:srgbClr val="1B6B7A"/>
                </a:solidFill>
                <a:latin typeface="Calibri" pitchFamily="34" charset="0"/>
                <a:ea typeface="Calibri" pitchFamily="34" charset="-122"/>
                <a:cs typeface="Calibri" pitchFamily="34" charset="-120"/>
              </a:rPr>
              <a:t>Pregunta  </a:t>
            </a:r>
            <a:pPr indent="0" marL="0">
              <a:buNone/>
            </a:pPr>
            <a:r>
              <a:rPr lang="en-US" sz="1350" dirty="0">
                <a:solidFill>
                  <a:srgbClr val="1E293B"/>
                </a:solidFill>
                <a:latin typeface="Calibri" pitchFamily="34" charset="0"/>
                <a:ea typeface="Calibri" pitchFamily="34" charset="-122"/>
                <a:cs typeface="Calibri" pitchFamily="34" charset="-120"/>
              </a:rPr>
              <a:t>Lo que la aduana propia no muestra, ¿está oculto o solo mal atribuido?</a:t>
            </a:r>
            <a:endParaRPr lang="en-US" sz="1350" dirty="0"/>
          </a:p>
        </p:txBody>
      </p:sp>
      <p:sp>
        <p:nvSpPr>
          <p:cNvPr id="26" name="Text 23"/>
          <p:cNvSpPr/>
          <p:nvPr/>
        </p:nvSpPr>
        <p:spPr>
          <a:xfrm>
            <a:off x="566928" y="2194560"/>
            <a:ext cx="3566160"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Fuentes</a:t>
            </a:r>
            <a:endParaRPr lang="en-US" sz="1500" dirty="0"/>
          </a:p>
        </p:txBody>
      </p:sp>
      <p:sp>
        <p:nvSpPr>
          <p:cNvPr id="27" name="Text 24"/>
          <p:cNvSpPr/>
          <p:nvPr/>
        </p:nvSpPr>
        <p:spPr>
          <a:xfrm>
            <a:off x="566928" y="2606040"/>
            <a:ext cx="3566160" cy="3566160"/>
          </a:xfrm>
          <a:prstGeom prst="rect">
            <a:avLst/>
          </a:prstGeom>
          <a:noFill/>
          <a:ln/>
        </p:spPr>
        <p:txBody>
          <a:bodyPr wrap="square" lIns="0" tIns="0" rIns="0" bIns="0" rtlCol="0" anchor="t"/>
          <a:lstStyle/>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Aduana nacional: importaciones por origen (CIF)</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UN Comtrade: exportaciones de los socios hacia el país (FOB), con clave gratuita</a:t>
            </a:r>
            <a:endParaRPr lang="en-US" sz="1150" dirty="0"/>
          </a:p>
        </p:txBody>
      </p:sp>
      <p:sp>
        <p:nvSpPr>
          <p:cNvPr id="28" name="Text 25"/>
          <p:cNvSpPr/>
          <p:nvPr/>
        </p:nvSpPr>
        <p:spPr>
          <a:xfrm>
            <a:off x="4498848" y="2194560"/>
            <a:ext cx="7095744"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Procedimiento</a:t>
            </a:r>
            <a:endParaRPr lang="en-US" sz="1500" dirty="0"/>
          </a:p>
        </p:txBody>
      </p:sp>
      <p:sp>
        <p:nvSpPr>
          <p:cNvPr id="29" name="Shape 26"/>
          <p:cNvSpPr/>
          <p:nvPr/>
        </p:nvSpPr>
        <p:spPr>
          <a:xfrm>
            <a:off x="4498848" y="2651760"/>
            <a:ext cx="347472" cy="347472"/>
          </a:xfrm>
          <a:prstGeom prst="ellipse">
            <a:avLst/>
          </a:prstGeom>
          <a:solidFill>
            <a:srgbClr val="2A9D8F"/>
          </a:solidFill>
          <a:ln/>
        </p:spPr>
      </p:sp>
      <p:sp>
        <p:nvSpPr>
          <p:cNvPr id="30" name="Text 27"/>
          <p:cNvSpPr/>
          <p:nvPr/>
        </p:nvSpPr>
        <p:spPr>
          <a:xfrm>
            <a:off x="4498848" y="26517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31" name="Text 28"/>
          <p:cNvSpPr/>
          <p:nvPr/>
        </p:nvSpPr>
        <p:spPr>
          <a:xfrm>
            <a:off x="4974336" y="259689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Elegir partidas a 6 dígitos: servidores, partes y aceleradores, conmutadores</a:t>
            </a:r>
            <a:endParaRPr lang="en-US" sz="1200" dirty="0"/>
          </a:p>
        </p:txBody>
      </p:sp>
      <p:sp>
        <p:nvSpPr>
          <p:cNvPr id="32" name="Shape 29"/>
          <p:cNvSpPr/>
          <p:nvPr/>
        </p:nvSpPr>
        <p:spPr>
          <a:xfrm>
            <a:off x="4498848" y="3200400"/>
            <a:ext cx="347472" cy="347472"/>
          </a:xfrm>
          <a:prstGeom prst="ellipse">
            <a:avLst/>
          </a:prstGeom>
          <a:solidFill>
            <a:srgbClr val="2A9D8F"/>
          </a:solidFill>
          <a:ln/>
        </p:spPr>
      </p:sp>
      <p:sp>
        <p:nvSpPr>
          <p:cNvPr id="33" name="Text 30"/>
          <p:cNvSpPr/>
          <p:nvPr/>
        </p:nvSpPr>
        <p:spPr>
          <a:xfrm>
            <a:off x="4498848" y="320040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4974336" y="314553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Sumar del lado nacional todas las subposiciones de cada partida</a:t>
            </a:r>
            <a:endParaRPr lang="en-US" sz="1200" dirty="0"/>
          </a:p>
        </p:txBody>
      </p:sp>
      <p:sp>
        <p:nvSpPr>
          <p:cNvPr id="35" name="Shape 32"/>
          <p:cNvSpPr/>
          <p:nvPr/>
        </p:nvSpPr>
        <p:spPr>
          <a:xfrm>
            <a:off x="4498848" y="3749040"/>
            <a:ext cx="347472" cy="347472"/>
          </a:xfrm>
          <a:prstGeom prst="ellipse">
            <a:avLst/>
          </a:prstGeom>
          <a:solidFill>
            <a:srgbClr val="2A9D8F"/>
          </a:solidFill>
          <a:ln/>
        </p:spPr>
      </p:sp>
      <p:sp>
        <p:nvSpPr>
          <p:cNvPr id="36" name="Text 33"/>
          <p:cNvSpPr/>
          <p:nvPr/>
        </p:nvSpPr>
        <p:spPr>
          <a:xfrm>
            <a:off x="4498848" y="374904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37" name="Text 34"/>
          <p:cNvSpPr/>
          <p:nvPr/>
        </p:nvSpPr>
        <p:spPr>
          <a:xfrm>
            <a:off x="4974336" y="369417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Para cada celda producto × año × socio, calcular brecha y cociente</a:t>
            </a:r>
            <a:endParaRPr lang="en-US" sz="1200" dirty="0"/>
          </a:p>
        </p:txBody>
      </p:sp>
      <p:sp>
        <p:nvSpPr>
          <p:cNvPr id="38" name="Shape 35"/>
          <p:cNvSpPr/>
          <p:nvPr/>
        </p:nvSpPr>
        <p:spPr>
          <a:xfrm>
            <a:off x="4498848" y="4297680"/>
            <a:ext cx="347472" cy="347472"/>
          </a:xfrm>
          <a:prstGeom prst="ellipse">
            <a:avLst/>
          </a:prstGeom>
          <a:solidFill>
            <a:srgbClr val="2A9D8F"/>
          </a:solidFill>
          <a:ln/>
        </p:spPr>
      </p:sp>
      <p:sp>
        <p:nvSpPr>
          <p:cNvPr id="39" name="Text 36"/>
          <p:cNvSpPr/>
          <p:nvPr/>
        </p:nvSpPr>
        <p:spPr>
          <a:xfrm>
            <a:off x="4498848" y="429768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40" name="Text 37"/>
          <p:cNvSpPr/>
          <p:nvPr/>
        </p:nvSpPr>
        <p:spPr>
          <a:xfrm>
            <a:off x="4974336" y="424281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Clasificar la causa: atribución de origen, triangulación por centros de reexpedición, secreto probable, zona gris o valuación</a:t>
            </a:r>
            <a:endParaRPr lang="en-US" sz="1200" dirty="0"/>
          </a:p>
        </p:txBody>
      </p:sp>
      <p:sp>
        <p:nvSpPr>
          <p:cNvPr id="41" name="Shape 38"/>
          <p:cNvSpPr/>
          <p:nvPr/>
        </p:nvSpPr>
        <p:spPr>
          <a:xfrm>
            <a:off x="4498848" y="4846320"/>
            <a:ext cx="347472" cy="347472"/>
          </a:xfrm>
          <a:prstGeom prst="ellipse">
            <a:avLst/>
          </a:prstGeom>
          <a:solidFill>
            <a:srgbClr val="2A9D8F"/>
          </a:solidFill>
          <a:ln/>
        </p:spPr>
      </p:sp>
      <p:sp>
        <p:nvSpPr>
          <p:cNvPr id="42" name="Text 39"/>
          <p:cNvSpPr/>
          <p:nvPr/>
        </p:nvSpPr>
        <p:spPr>
          <a:xfrm>
            <a:off x="4498848" y="484632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43" name="Text 40"/>
          <p:cNvSpPr/>
          <p:nvPr/>
        </p:nvSpPr>
        <p:spPr>
          <a:xfrm>
            <a:off x="4974336" y="479145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Probar la sensibilidad a los umbrales</a:t>
            </a:r>
            <a:endParaRPr lang="en-US" sz="1200" dirty="0"/>
          </a:p>
        </p:txBody>
      </p:sp>
      <p:sp>
        <p:nvSpPr>
          <p:cNvPr id="44" name="Shape 41"/>
          <p:cNvSpPr/>
          <p:nvPr/>
        </p:nvSpPr>
        <p:spPr>
          <a:xfrm>
            <a:off x="4498848" y="5394960"/>
            <a:ext cx="347472" cy="347472"/>
          </a:xfrm>
          <a:prstGeom prst="ellipse">
            <a:avLst/>
          </a:prstGeom>
          <a:solidFill>
            <a:srgbClr val="2A9D8F"/>
          </a:solidFill>
          <a:ln/>
        </p:spPr>
      </p:sp>
      <p:sp>
        <p:nvSpPr>
          <p:cNvPr id="45" name="Text 42"/>
          <p:cNvSpPr/>
          <p:nvPr/>
        </p:nvSpPr>
        <p:spPr>
          <a:xfrm>
            <a:off x="4498848" y="53949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46" name="Text 43"/>
          <p:cNvSpPr/>
          <p:nvPr/>
        </p:nvSpPr>
        <p:spPr>
          <a:xfrm>
            <a:off x="4974336" y="534009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Nunca imputar: la serie nacional queda como cota inferior</a:t>
            </a:r>
            <a:endParaRPr lang="en-US" sz="1200" dirty="0"/>
          </a:p>
        </p:txBody>
      </p:sp>
      <p:sp>
        <p:nvSpPr>
          <p:cNvPr id="47" name="Text 44"/>
          <p:cNvSpPr/>
          <p:nvPr/>
        </p:nvSpPr>
        <p:spPr>
          <a:xfrm>
            <a:off x="4498848" y="6126480"/>
            <a:ext cx="7095744" cy="256032"/>
          </a:xfrm>
          <a:prstGeom prst="rect">
            <a:avLst/>
          </a:prstGeom>
          <a:noFill/>
          <a:ln/>
        </p:spPr>
        <p:txBody>
          <a:bodyPr wrap="square" lIns="0" tIns="0" rIns="0" bIns="0" rtlCol="0" anchor="ctr"/>
          <a:lstStyle/>
          <a:p>
            <a:pPr algn="r" indent="0" marL="0">
              <a:buNone/>
            </a:pPr>
            <a:r>
              <a:rPr lang="en-US" sz="1000" dirty="0">
                <a:solidFill>
                  <a:srgbClr val="5B6B7A"/>
                </a:solidFill>
                <a:latin typeface="Consolas" pitchFamily="34" charset="0"/>
                <a:ea typeface="Consolas" pitchFamily="34" charset="-122"/>
                <a:cs typeface="Consolas" pitchFamily="34" charset="-120"/>
              </a:rPr>
              <a:t>Ficha: docs/04_espejo.md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4 · TRAMPAS Y RESULTADO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1B6B7A"/>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Espejo: la opacidad es de origen, no de volumen</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13</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Text 21"/>
          <p:cNvSpPr/>
          <p:nvPr/>
        </p:nvSpPr>
        <p:spPr>
          <a:xfrm>
            <a:off x="566928" y="1463040"/>
            <a:ext cx="6400800" cy="365760"/>
          </a:xfrm>
          <a:prstGeom prst="rect">
            <a:avLst/>
          </a:prstGeom>
          <a:noFill/>
          <a:ln/>
        </p:spPr>
        <p:txBody>
          <a:bodyPr wrap="square" lIns="0" tIns="0" rIns="0" bIns="0" rtlCol="0" anchor="ctr"/>
          <a:lstStyle/>
          <a:p>
            <a:pPr indent="0" marL="0">
              <a:buNone/>
            </a:pPr>
            <a:r>
              <a:rPr lang="en-US" sz="1500" b="1" dirty="0">
                <a:solidFill>
                  <a:srgbClr val="B5402E"/>
                </a:solidFill>
                <a:latin typeface="Cambria" pitchFamily="34" charset="0"/>
                <a:ea typeface="Cambria" pitchFamily="34" charset="-122"/>
                <a:cs typeface="Cambria" pitchFamily="34" charset="-120"/>
              </a:rPr>
              <a:t>Lo que nos hizo equivocar</a:t>
            </a:r>
            <a:endParaRPr lang="en-US" sz="1500" dirty="0"/>
          </a:p>
        </p:txBody>
      </p:sp>
      <p:sp>
        <p:nvSpPr>
          <p:cNvPr id="25" name="Shape 22"/>
          <p:cNvSpPr/>
          <p:nvPr/>
        </p:nvSpPr>
        <p:spPr>
          <a:xfrm>
            <a:off x="566928" y="192024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566928" y="1965960"/>
            <a:ext cx="73152" cy="1036320"/>
          </a:xfrm>
          <a:prstGeom prst="rect">
            <a:avLst/>
          </a:prstGeom>
          <a:solidFill>
            <a:srgbClr val="B5402E"/>
          </a:solidFill>
          <a:ln/>
        </p:spPr>
      </p:sp>
      <p:sp>
        <p:nvSpPr>
          <p:cNvPr id="27" name="Text 24"/>
          <p:cNvSpPr/>
          <p:nvPr/>
        </p:nvSpPr>
        <p:spPr>
          <a:xfrm>
            <a:off x="795528" y="197510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Cada aduana se consulta distinto.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El lado nacional del cruce no tiene implementación genérica: va en el adaptador de cada país.</a:t>
            </a:r>
            <a:endParaRPr lang="en-US" sz="1150" dirty="0"/>
          </a:p>
        </p:txBody>
      </p:sp>
      <p:sp>
        <p:nvSpPr>
          <p:cNvPr id="28" name="Shape 25"/>
          <p:cNvSpPr/>
          <p:nvPr/>
        </p:nvSpPr>
        <p:spPr>
          <a:xfrm>
            <a:off x="566928" y="318516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9" name="Shape 26"/>
          <p:cNvSpPr/>
          <p:nvPr/>
        </p:nvSpPr>
        <p:spPr>
          <a:xfrm>
            <a:off x="566928" y="3230880"/>
            <a:ext cx="73152" cy="1036320"/>
          </a:xfrm>
          <a:prstGeom prst="rect">
            <a:avLst/>
          </a:prstGeom>
          <a:solidFill>
            <a:srgbClr val="B5402E"/>
          </a:solidFill>
          <a:ln/>
        </p:spPr>
      </p:sp>
      <p:sp>
        <p:nvSpPr>
          <p:cNvPr id="30" name="Text 27"/>
          <p:cNvSpPr/>
          <p:nvPr/>
        </p:nvSpPr>
        <p:spPr>
          <a:xfrm>
            <a:off x="795528" y="324002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El crudo de Comtrade no se redistribuye.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Cada equipo lo baja con su propia clave.</a:t>
            </a:r>
            <a:endParaRPr lang="en-US" sz="1150" dirty="0"/>
          </a:p>
        </p:txBody>
      </p:sp>
      <p:sp>
        <p:nvSpPr>
          <p:cNvPr id="31" name="Shape 28"/>
          <p:cNvSpPr/>
          <p:nvPr/>
        </p:nvSpPr>
        <p:spPr>
          <a:xfrm>
            <a:off x="566928" y="445008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2" name="Shape 29"/>
          <p:cNvSpPr/>
          <p:nvPr/>
        </p:nvSpPr>
        <p:spPr>
          <a:xfrm>
            <a:off x="566928" y="4495800"/>
            <a:ext cx="73152" cy="1036320"/>
          </a:xfrm>
          <a:prstGeom prst="rect">
            <a:avLst/>
          </a:prstGeom>
          <a:solidFill>
            <a:srgbClr val="B5402E"/>
          </a:solidFill>
          <a:ln/>
        </p:spPr>
      </p:sp>
      <p:sp>
        <p:nvSpPr>
          <p:cNvPr id="33" name="Text 30"/>
          <p:cNvSpPr/>
          <p:nvPr/>
        </p:nvSpPr>
        <p:spPr>
          <a:xfrm>
            <a:off x="795528" y="450494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Testear antes de atribuir.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¿La minería cripto explicaba la brecha? Sus equipos van en 8543.70, fuera de la canasta: no.</a:t>
            </a:r>
            <a:endParaRPr lang="en-US" sz="1150" dirty="0"/>
          </a:p>
        </p:txBody>
      </p:sp>
      <p:sp>
        <p:nvSpPr>
          <p:cNvPr id="34" name="Shape 31"/>
          <p:cNvSpPr/>
          <p:nvPr/>
        </p:nvSpPr>
        <p:spPr>
          <a:xfrm>
            <a:off x="7287768" y="1463040"/>
            <a:ext cx="4306824" cy="3108960"/>
          </a:xfrm>
          <a:prstGeom prst="roundRect">
            <a:avLst>
              <a:gd name="adj" fmla="val 2353"/>
            </a:avLst>
          </a:prstGeom>
          <a:solidFill>
            <a:srgbClr val="14213D"/>
          </a:solidFill>
          <a:ln/>
        </p:spPr>
      </p:sp>
      <p:sp>
        <p:nvSpPr>
          <p:cNvPr id="35" name="Text 32"/>
          <p:cNvSpPr/>
          <p:nvPr/>
        </p:nvSpPr>
        <p:spPr>
          <a:xfrm>
            <a:off x="7562088" y="1463040"/>
            <a:ext cx="3758184" cy="3108960"/>
          </a:xfrm>
          <a:prstGeom prst="rect">
            <a:avLst/>
          </a:prstGeom>
          <a:noFill/>
          <a:ln/>
        </p:spPr>
        <p:txBody>
          <a:bodyPr wrap="square" lIns="0" tIns="0" rIns="0" bIns="0" rtlCol="0" anchor="ctr"/>
          <a:lstStyle/>
          <a:p>
            <a:pPr indent="0" marL="0">
              <a:lnSpc>
                <a:spcPct val="115000"/>
              </a:lnSpc>
              <a:buNone/>
            </a:pPr>
            <a:r>
              <a:rPr lang="en-US" sz="1400" b="1" dirty="0">
                <a:solidFill>
                  <a:srgbClr val="2A9D8F"/>
                </a:solidFill>
                <a:latin typeface="Calibri" pitchFamily="34" charset="0"/>
                <a:ea typeface="Calibri" pitchFamily="34" charset="-122"/>
                <a:cs typeface="Calibri" pitchFamily="34" charset="-120"/>
              </a:rPr>
              <a:t>Resultado en Argentina</a:t>
            </a:r>
            <a:endParaRPr lang="en-US" sz="1400" dirty="0"/>
          </a:p>
          <a:p>
            <a:pPr indent="0" marL="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En 2023–2025, la brecha se explica sobre todo por atribución de origen (US$ 712 millones) y triangulación (US$ 223 millones). El secreto estadístico genuino es acotado: US$ 53–263 millones.</a:t>
            </a:r>
            <a:endParaRPr lang="en-US" sz="1400" dirty="0"/>
          </a:p>
        </p:txBody>
      </p:sp>
      <p:sp>
        <p:nvSpPr>
          <p:cNvPr id="36" name="Text 33"/>
          <p:cNvSpPr/>
          <p:nvPr/>
        </p:nvSpPr>
        <p:spPr>
          <a:xfrm>
            <a:off x="7287768" y="4754880"/>
            <a:ext cx="4306824" cy="320040"/>
          </a:xfrm>
          <a:prstGeom prst="rect">
            <a:avLst/>
          </a:prstGeom>
          <a:noFill/>
          <a:ln/>
        </p:spPr>
        <p:txBody>
          <a:bodyPr wrap="square" lIns="0" tIns="0" rIns="0" bIns="0" rtlCol="0" anchor="ctr"/>
          <a:lstStyle/>
          <a:p>
            <a:pPr indent="0" marL="0">
              <a:buNone/>
            </a:pPr>
            <a:r>
              <a:rPr lang="en-US" sz="1300" b="1" dirty="0">
                <a:solidFill>
                  <a:srgbClr val="1B6B7A"/>
                </a:solidFill>
                <a:latin typeface="Cambria" pitchFamily="34" charset="0"/>
                <a:ea typeface="Cambria" pitchFamily="34" charset="-122"/>
                <a:cs typeface="Cambria" pitchFamily="34" charset="-120"/>
              </a:rPr>
              <a:t>En el kit</a:t>
            </a:r>
            <a:endParaRPr lang="en-US" sz="1300" dirty="0"/>
          </a:p>
        </p:txBody>
      </p:sp>
      <p:sp>
        <p:nvSpPr>
          <p:cNvPr id="37" name="Shape 34"/>
          <p:cNvSpPr/>
          <p:nvPr/>
        </p:nvSpPr>
        <p:spPr>
          <a:xfrm>
            <a:off x="7287768" y="5120640"/>
            <a:ext cx="4306824" cy="868680"/>
          </a:xfrm>
          <a:prstGeom prst="rect">
            <a:avLst/>
          </a:prstGeom>
          <a:solidFill>
            <a:srgbClr val="1E2A3A"/>
          </a:solidFill>
          <a:ln/>
        </p:spPr>
      </p:sp>
      <p:sp>
        <p:nvSpPr>
          <p:cNvPr id="38" name="Text 35"/>
          <p:cNvSpPr/>
          <p:nvPr/>
        </p:nvSpPr>
        <p:spPr>
          <a:xfrm>
            <a:off x="7470648" y="5120640"/>
            <a:ext cx="3941064" cy="868680"/>
          </a:xfrm>
          <a:prstGeom prst="rect">
            <a:avLst/>
          </a:prstGeom>
          <a:noFill/>
          <a:ln/>
        </p:spPr>
        <p:txBody>
          <a:bodyPr wrap="square" lIns="0" tIns="0" rIns="0" bIns="0" rtlCol="0" anchor="ctr"/>
          <a:lstStyle/>
          <a:p>
            <a:pPr indent="0" marL="0">
              <a:buNone/>
            </a:pPr>
            <a:r>
              <a:rPr lang="en-US" sz="1100" dirty="0">
                <a:solidFill>
                  <a:srgbClr val="D7E3E8"/>
                </a:solidFill>
                <a:latin typeface="Consolas" pitchFamily="34" charset="0"/>
                <a:ea typeface="Consolas" pitchFamily="34" charset="-122"/>
                <a:cs typeface="Consolas" pitchFamily="34" charset="-120"/>
              </a:rPr>
              <a:t>python -m kit.fuentes.comtrade --sa6 8471.50 8473.30</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python -m kit.espejo --bajar-aduana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5 · PROCEDIMIENTO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1B6B7A"/>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De los megavatios al equipo: el factor de atribución</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14</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463040"/>
            <a:ext cx="11027664" cy="548640"/>
          </a:xfrm>
          <a:prstGeom prst="roundRect">
            <a:avLst>
              <a:gd name="adj" fmla="val 10000"/>
            </a:avLst>
          </a:prstGeom>
          <a:solidFill>
            <a:srgbClr val="EEF3F5"/>
          </a:solidFill>
          <a:ln/>
        </p:spPr>
      </p:sp>
      <p:sp>
        <p:nvSpPr>
          <p:cNvPr id="25" name="Text 22"/>
          <p:cNvSpPr/>
          <p:nvPr/>
        </p:nvSpPr>
        <p:spPr>
          <a:xfrm>
            <a:off x="841248" y="1463040"/>
            <a:ext cx="10479024" cy="548640"/>
          </a:xfrm>
          <a:prstGeom prst="rect">
            <a:avLst/>
          </a:prstGeom>
          <a:noFill/>
          <a:ln/>
        </p:spPr>
        <p:txBody>
          <a:bodyPr wrap="square" lIns="0" tIns="0" rIns="0" bIns="0" rtlCol="0" anchor="ctr"/>
          <a:lstStyle/>
          <a:p>
            <a:pPr indent="0" marL="0">
              <a:buNone/>
            </a:pPr>
            <a:r>
              <a:rPr lang="en-US" sz="1350" b="1" dirty="0">
                <a:solidFill>
                  <a:srgbClr val="1B6B7A"/>
                </a:solidFill>
                <a:latin typeface="Calibri" pitchFamily="34" charset="0"/>
                <a:ea typeface="Calibri" pitchFamily="34" charset="-122"/>
                <a:cs typeface="Calibri" pitchFamily="34" charset="-120"/>
              </a:rPr>
              <a:t>Pregunta  </a:t>
            </a:r>
            <a:pPr indent="0" marL="0">
              <a:buNone/>
            </a:pPr>
            <a:r>
              <a:rPr lang="en-US" sz="1350" dirty="0">
                <a:solidFill>
                  <a:srgbClr val="1E293B"/>
                </a:solidFill>
                <a:latin typeface="Calibri" pitchFamily="34" charset="0"/>
                <a:ea typeface="Calibri" pitchFamily="34" charset="-122"/>
                <a:cs typeface="Calibri" pitchFamily="34" charset="-120"/>
              </a:rPr>
              <a:t>¿Qué parte del equipamiento importado va a centros de datos? ¿Dejan huella los anuncios?</a:t>
            </a:r>
            <a:endParaRPr lang="en-US" sz="1350" dirty="0"/>
          </a:p>
        </p:txBody>
      </p:sp>
      <p:sp>
        <p:nvSpPr>
          <p:cNvPr id="26" name="Text 23"/>
          <p:cNvSpPr/>
          <p:nvPr/>
        </p:nvSpPr>
        <p:spPr>
          <a:xfrm>
            <a:off x="566928" y="2194560"/>
            <a:ext cx="3566160"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Fuentes</a:t>
            </a:r>
            <a:endParaRPr lang="en-US" sz="1500" dirty="0"/>
          </a:p>
        </p:txBody>
      </p:sp>
      <p:sp>
        <p:nvSpPr>
          <p:cNvPr id="27" name="Text 24"/>
          <p:cNvSpPr/>
          <p:nvPr/>
        </p:nvSpPr>
        <p:spPr>
          <a:xfrm>
            <a:off x="566928" y="2606040"/>
            <a:ext cx="3566160" cy="3566160"/>
          </a:xfrm>
          <a:prstGeom prst="rect">
            <a:avLst/>
          </a:prstGeom>
          <a:noFill/>
          <a:ln/>
        </p:spPr>
        <p:txBody>
          <a:bodyPr wrap="square" lIns="0" tIns="0" rIns="0" bIns="0" rtlCol="0" anchor="t"/>
          <a:lstStyle/>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Potencia de IT del parque (la cámara del sector o el propio inventario)</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Hojas técnicas: potencia y masa por servidor, densidad por rack</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Costo de inversión por MW, por subsistema</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La serie aduanera del método 3</a:t>
            </a:r>
            <a:endParaRPr lang="en-US" sz="1150" dirty="0"/>
          </a:p>
        </p:txBody>
      </p:sp>
      <p:sp>
        <p:nvSpPr>
          <p:cNvPr id="28" name="Text 25"/>
          <p:cNvSpPr/>
          <p:nvPr/>
        </p:nvSpPr>
        <p:spPr>
          <a:xfrm>
            <a:off x="4498848" y="2194560"/>
            <a:ext cx="7095744"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Procedimiento</a:t>
            </a:r>
            <a:endParaRPr lang="en-US" sz="1500" dirty="0"/>
          </a:p>
        </p:txBody>
      </p:sp>
      <p:sp>
        <p:nvSpPr>
          <p:cNvPr id="29" name="Shape 26"/>
          <p:cNvSpPr/>
          <p:nvPr/>
        </p:nvSpPr>
        <p:spPr>
          <a:xfrm>
            <a:off x="4498848" y="2651760"/>
            <a:ext cx="347472" cy="347472"/>
          </a:xfrm>
          <a:prstGeom prst="ellipse">
            <a:avLst/>
          </a:prstGeom>
          <a:solidFill>
            <a:srgbClr val="2A9D8F"/>
          </a:solidFill>
          <a:ln/>
        </p:spPr>
      </p:sp>
      <p:sp>
        <p:nvSpPr>
          <p:cNvPr id="30" name="Text 27"/>
          <p:cNvSpPr/>
          <p:nvPr/>
        </p:nvSpPr>
        <p:spPr>
          <a:xfrm>
            <a:off x="4498848" y="26517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31" name="Text 28"/>
          <p:cNvSpPr/>
          <p:nvPr/>
        </p:nvSpPr>
        <p:spPr>
          <a:xfrm>
            <a:off x="4974336" y="259689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Repartir la potencia de IT entre servidores convencionales y acelerados</a:t>
            </a:r>
            <a:endParaRPr lang="en-US" sz="1200" dirty="0"/>
          </a:p>
        </p:txBody>
      </p:sp>
      <p:sp>
        <p:nvSpPr>
          <p:cNvPr id="32" name="Shape 29"/>
          <p:cNvSpPr/>
          <p:nvPr/>
        </p:nvSpPr>
        <p:spPr>
          <a:xfrm>
            <a:off x="4498848" y="3200400"/>
            <a:ext cx="347472" cy="347472"/>
          </a:xfrm>
          <a:prstGeom prst="ellipse">
            <a:avLst/>
          </a:prstGeom>
          <a:solidFill>
            <a:srgbClr val="2A9D8F"/>
          </a:solidFill>
          <a:ln/>
        </p:spPr>
      </p:sp>
      <p:sp>
        <p:nvSpPr>
          <p:cNvPr id="33" name="Text 30"/>
          <p:cNvSpPr/>
          <p:nvPr/>
        </p:nvSpPr>
        <p:spPr>
          <a:xfrm>
            <a:off x="4498848" y="320040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4974336" y="314553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Calcular cantidad, masa y valor del equipo IT; lo eléctrico y la refrigeración, con la potencia total</a:t>
            </a:r>
            <a:endParaRPr lang="en-US" sz="1200" dirty="0"/>
          </a:p>
        </p:txBody>
      </p:sp>
      <p:sp>
        <p:nvSpPr>
          <p:cNvPr id="35" name="Shape 32"/>
          <p:cNvSpPr/>
          <p:nvPr/>
        </p:nvSpPr>
        <p:spPr>
          <a:xfrm>
            <a:off x="4498848" y="3749040"/>
            <a:ext cx="347472" cy="347472"/>
          </a:xfrm>
          <a:prstGeom prst="ellipse">
            <a:avLst/>
          </a:prstGeom>
          <a:solidFill>
            <a:srgbClr val="2A9D8F"/>
          </a:solidFill>
          <a:ln/>
        </p:spPr>
      </p:sp>
      <p:sp>
        <p:nvSpPr>
          <p:cNvPr id="36" name="Text 33"/>
          <p:cNvSpPr/>
          <p:nvPr/>
        </p:nvSpPr>
        <p:spPr>
          <a:xfrm>
            <a:off x="4498848" y="374904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37" name="Text 34"/>
          <p:cNvSpPr/>
          <p:nvPr/>
        </p:nvSpPr>
        <p:spPr>
          <a:xfrm>
            <a:off x="4974336" y="369417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Contrastar la vía física con la económica</a:t>
            </a:r>
            <a:endParaRPr lang="en-US" sz="1200" dirty="0"/>
          </a:p>
        </p:txBody>
      </p:sp>
      <p:sp>
        <p:nvSpPr>
          <p:cNvPr id="38" name="Shape 35"/>
          <p:cNvSpPr/>
          <p:nvPr/>
        </p:nvSpPr>
        <p:spPr>
          <a:xfrm>
            <a:off x="4498848" y="4297680"/>
            <a:ext cx="347472" cy="347472"/>
          </a:xfrm>
          <a:prstGeom prst="ellipse">
            <a:avLst/>
          </a:prstGeom>
          <a:solidFill>
            <a:srgbClr val="2A9D8F"/>
          </a:solidFill>
          <a:ln/>
        </p:spPr>
      </p:sp>
      <p:sp>
        <p:nvSpPr>
          <p:cNvPr id="39" name="Text 36"/>
          <p:cNvSpPr/>
          <p:nvPr/>
        </p:nvSpPr>
        <p:spPr>
          <a:xfrm>
            <a:off x="4498848" y="429768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40" name="Text 37"/>
          <p:cNvSpPr/>
          <p:nvPr/>
        </p:nvSpPr>
        <p:spPr>
          <a:xfrm>
            <a:off x="4974336" y="424281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Factor f: masa IT que el parque repone por año sobre masa IT importada por año, con la misma vida útil del RAEE</a:t>
            </a:r>
            <a:endParaRPr lang="en-US" sz="1200" dirty="0"/>
          </a:p>
        </p:txBody>
      </p:sp>
      <p:sp>
        <p:nvSpPr>
          <p:cNvPr id="41" name="Shape 38"/>
          <p:cNvSpPr/>
          <p:nvPr/>
        </p:nvSpPr>
        <p:spPr>
          <a:xfrm>
            <a:off x="4498848" y="4846320"/>
            <a:ext cx="347472" cy="347472"/>
          </a:xfrm>
          <a:prstGeom prst="ellipse">
            <a:avLst/>
          </a:prstGeom>
          <a:solidFill>
            <a:srgbClr val="2A9D8F"/>
          </a:solidFill>
          <a:ln/>
        </p:spPr>
      </p:sp>
      <p:sp>
        <p:nvSpPr>
          <p:cNvPr id="42" name="Text 39"/>
          <p:cNvSpPr/>
          <p:nvPr/>
        </p:nvSpPr>
        <p:spPr>
          <a:xfrm>
            <a:off x="4498848" y="484632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43" name="Text 40"/>
          <p:cNvSpPr/>
          <p:nvPr/>
        </p:nvSpPr>
        <p:spPr>
          <a:xfrm>
            <a:off x="4974336" y="479145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Sensibilidad de un parámetro por vez</a:t>
            </a:r>
            <a:endParaRPr lang="en-US" sz="1200" dirty="0"/>
          </a:p>
        </p:txBody>
      </p:sp>
      <p:sp>
        <p:nvSpPr>
          <p:cNvPr id="44" name="Shape 41"/>
          <p:cNvSpPr/>
          <p:nvPr/>
        </p:nvSpPr>
        <p:spPr>
          <a:xfrm>
            <a:off x="4498848" y="5394960"/>
            <a:ext cx="347472" cy="347472"/>
          </a:xfrm>
          <a:prstGeom prst="ellipse">
            <a:avLst/>
          </a:prstGeom>
          <a:solidFill>
            <a:srgbClr val="2A9D8F"/>
          </a:solidFill>
          <a:ln/>
        </p:spPr>
      </p:sp>
      <p:sp>
        <p:nvSpPr>
          <p:cNvPr id="45" name="Text 42"/>
          <p:cNvSpPr/>
          <p:nvPr/>
        </p:nvSpPr>
        <p:spPr>
          <a:xfrm>
            <a:off x="4498848" y="53949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46" name="Text 43"/>
          <p:cNvSpPr/>
          <p:nvPr/>
        </p:nvSpPr>
        <p:spPr>
          <a:xfrm>
            <a:off x="4974336" y="534009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Para un anuncio: equipo requerido contra lo importado, en valor</a:t>
            </a:r>
            <a:endParaRPr lang="en-US" sz="1200" dirty="0"/>
          </a:p>
        </p:txBody>
      </p:sp>
      <p:sp>
        <p:nvSpPr>
          <p:cNvPr id="47" name="Text 44"/>
          <p:cNvSpPr/>
          <p:nvPr/>
        </p:nvSpPr>
        <p:spPr>
          <a:xfrm>
            <a:off x="4498848" y="6126480"/>
            <a:ext cx="7095744" cy="256032"/>
          </a:xfrm>
          <a:prstGeom prst="rect">
            <a:avLst/>
          </a:prstGeom>
          <a:noFill/>
          <a:ln/>
        </p:spPr>
        <p:txBody>
          <a:bodyPr wrap="square" lIns="0" tIns="0" rIns="0" bIns="0" rtlCol="0" anchor="ctr"/>
          <a:lstStyle/>
          <a:p>
            <a:pPr algn="r" indent="0" marL="0">
              <a:buNone/>
            </a:pPr>
            <a:r>
              <a:rPr lang="en-US" sz="1000" dirty="0">
                <a:solidFill>
                  <a:srgbClr val="5B6B7A"/>
                </a:solidFill>
                <a:latin typeface="Consolas" pitchFamily="34" charset="0"/>
                <a:ea typeface="Consolas" pitchFamily="34" charset="-122"/>
                <a:cs typeface="Consolas" pitchFamily="34" charset="-120"/>
              </a:rPr>
              <a:t>Ficha: docs/05_mw_equipo.md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5 · TRAMPAS Y RESULTADO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1B6B7A"/>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De los MW al equipo: la base de la potencia pesa más que todo lo demás</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15</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Text 21"/>
          <p:cNvSpPr/>
          <p:nvPr/>
        </p:nvSpPr>
        <p:spPr>
          <a:xfrm>
            <a:off x="566928" y="1463040"/>
            <a:ext cx="6400800" cy="365760"/>
          </a:xfrm>
          <a:prstGeom prst="rect">
            <a:avLst/>
          </a:prstGeom>
          <a:noFill/>
          <a:ln/>
        </p:spPr>
        <p:txBody>
          <a:bodyPr wrap="square" lIns="0" tIns="0" rIns="0" bIns="0" rtlCol="0" anchor="ctr"/>
          <a:lstStyle/>
          <a:p>
            <a:pPr indent="0" marL="0">
              <a:buNone/>
            </a:pPr>
            <a:r>
              <a:rPr lang="en-US" sz="1500" b="1" dirty="0">
                <a:solidFill>
                  <a:srgbClr val="B5402E"/>
                </a:solidFill>
                <a:latin typeface="Cambria" pitchFamily="34" charset="0"/>
                <a:ea typeface="Cambria" pitchFamily="34" charset="-122"/>
                <a:cs typeface="Cambria" pitchFamily="34" charset="-120"/>
              </a:rPr>
              <a:t>Lo que nos hizo equivocar</a:t>
            </a:r>
            <a:endParaRPr lang="en-US" sz="1500" dirty="0"/>
          </a:p>
        </p:txBody>
      </p:sp>
      <p:sp>
        <p:nvSpPr>
          <p:cNvPr id="25" name="Shape 22"/>
          <p:cNvSpPr/>
          <p:nvPr/>
        </p:nvSpPr>
        <p:spPr>
          <a:xfrm>
            <a:off x="566928" y="192024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566928" y="1965960"/>
            <a:ext cx="73152" cy="1036320"/>
          </a:xfrm>
          <a:prstGeom prst="rect">
            <a:avLst/>
          </a:prstGeom>
          <a:solidFill>
            <a:srgbClr val="B5402E"/>
          </a:solidFill>
          <a:ln/>
        </p:spPr>
      </p:sp>
      <p:sp>
        <p:nvSpPr>
          <p:cNvPr id="27" name="Text 24"/>
          <p:cNvSpPr/>
          <p:nvPr/>
        </p:nvSpPr>
        <p:spPr>
          <a:xfrm>
            <a:off x="795528" y="197510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IT o total.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Si la cifra de la cámara fuera potencia total, f bajaría un 36%: verificar la base antes que cualquier otro supuesto.</a:t>
            </a:r>
            <a:endParaRPr lang="en-US" sz="1150" dirty="0"/>
          </a:p>
        </p:txBody>
      </p:sp>
      <p:sp>
        <p:nvSpPr>
          <p:cNvPr id="28" name="Shape 25"/>
          <p:cNvSpPr/>
          <p:nvPr/>
        </p:nvSpPr>
        <p:spPr>
          <a:xfrm>
            <a:off x="566928" y="318516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9" name="Shape 26"/>
          <p:cNvSpPr/>
          <p:nvPr/>
        </p:nvSpPr>
        <p:spPr>
          <a:xfrm>
            <a:off x="566928" y="3230880"/>
            <a:ext cx="73152" cy="1036320"/>
          </a:xfrm>
          <a:prstGeom prst="rect">
            <a:avLst/>
          </a:prstGeom>
          <a:solidFill>
            <a:srgbClr val="B5402E"/>
          </a:solidFill>
          <a:ln/>
        </p:spPr>
      </p:sp>
      <p:sp>
        <p:nvSpPr>
          <p:cNvPr id="30" name="Text 27"/>
          <p:cNvSpPr/>
          <p:nvPr/>
        </p:nvSpPr>
        <p:spPr>
          <a:xfrm>
            <a:off x="795528" y="324002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Comparar en valor, no en peso.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Un sistema acelerado concentra mucho valor en poca masa: en toneladas, el resultado es absurdo.</a:t>
            </a:r>
            <a:endParaRPr lang="en-US" sz="1150" dirty="0"/>
          </a:p>
        </p:txBody>
      </p:sp>
      <p:sp>
        <p:nvSpPr>
          <p:cNvPr id="31" name="Shape 28"/>
          <p:cNvSpPr/>
          <p:nvPr/>
        </p:nvSpPr>
        <p:spPr>
          <a:xfrm>
            <a:off x="566928" y="445008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2" name="Shape 29"/>
          <p:cNvSpPr/>
          <p:nvPr/>
        </p:nvSpPr>
        <p:spPr>
          <a:xfrm>
            <a:off x="566928" y="4495800"/>
            <a:ext cx="73152" cy="1036320"/>
          </a:xfrm>
          <a:prstGeom prst="rect">
            <a:avLst/>
          </a:prstGeom>
          <a:solidFill>
            <a:srgbClr val="B5402E"/>
          </a:solidFill>
          <a:ln/>
        </p:spPr>
      </p:sp>
      <p:sp>
        <p:nvSpPr>
          <p:cNvPr id="33" name="Text 30"/>
          <p:cNvSpPr/>
          <p:nvPr/>
        </p:nvSpPr>
        <p:spPr>
          <a:xfrm>
            <a:off x="795528" y="450494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f es un promedio fijo.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Calcularlo con una ventana móvil que siga a las cohortes queda pendiente.</a:t>
            </a:r>
            <a:endParaRPr lang="en-US" sz="1150" dirty="0"/>
          </a:p>
        </p:txBody>
      </p:sp>
      <p:sp>
        <p:nvSpPr>
          <p:cNvPr id="34" name="Shape 31"/>
          <p:cNvSpPr/>
          <p:nvPr/>
        </p:nvSpPr>
        <p:spPr>
          <a:xfrm>
            <a:off x="7287768" y="1463040"/>
            <a:ext cx="4306824" cy="3108960"/>
          </a:xfrm>
          <a:prstGeom prst="roundRect">
            <a:avLst>
              <a:gd name="adj" fmla="val 2353"/>
            </a:avLst>
          </a:prstGeom>
          <a:solidFill>
            <a:srgbClr val="14213D"/>
          </a:solidFill>
          <a:ln/>
        </p:spPr>
      </p:sp>
      <p:sp>
        <p:nvSpPr>
          <p:cNvPr id="35" name="Text 32"/>
          <p:cNvSpPr/>
          <p:nvPr/>
        </p:nvSpPr>
        <p:spPr>
          <a:xfrm>
            <a:off x="7562088" y="1463040"/>
            <a:ext cx="3758184" cy="3108960"/>
          </a:xfrm>
          <a:prstGeom prst="rect">
            <a:avLst/>
          </a:prstGeom>
          <a:noFill/>
          <a:ln/>
        </p:spPr>
        <p:txBody>
          <a:bodyPr wrap="square" lIns="0" tIns="0" rIns="0" bIns="0" rtlCol="0" anchor="ctr"/>
          <a:lstStyle/>
          <a:p>
            <a:pPr indent="0" marL="0">
              <a:lnSpc>
                <a:spcPct val="115000"/>
              </a:lnSpc>
              <a:buNone/>
            </a:pPr>
            <a:r>
              <a:rPr lang="en-US" sz="1400" b="1" dirty="0">
                <a:solidFill>
                  <a:srgbClr val="2A9D8F"/>
                </a:solidFill>
                <a:latin typeface="Calibri" pitchFamily="34" charset="0"/>
                <a:ea typeface="Calibri" pitchFamily="34" charset="-122"/>
                <a:cs typeface="Calibri" pitchFamily="34" charset="-120"/>
              </a:rPr>
              <a:t>Resultado en Argentina</a:t>
            </a:r>
            <a:endParaRPr lang="en-US" sz="1400" dirty="0"/>
          </a:p>
          <a:p>
            <a:pPr indent="0" marL="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Los centros de datos explican cerca de un sexto del equipamiento IT importado: f = 0,163 (banda 0,109–0,233). Todo el cómputo importado entre 2025 y agosto de 2026 alcanzaría para unos 14 MW: el 3% del mayor proyecto anunciado.</a:t>
            </a:r>
            <a:endParaRPr lang="en-US" sz="1400" dirty="0"/>
          </a:p>
        </p:txBody>
      </p:sp>
      <p:sp>
        <p:nvSpPr>
          <p:cNvPr id="36" name="Text 33"/>
          <p:cNvSpPr/>
          <p:nvPr/>
        </p:nvSpPr>
        <p:spPr>
          <a:xfrm>
            <a:off x="7287768" y="4754880"/>
            <a:ext cx="4306824" cy="320040"/>
          </a:xfrm>
          <a:prstGeom prst="rect">
            <a:avLst/>
          </a:prstGeom>
          <a:noFill/>
          <a:ln/>
        </p:spPr>
        <p:txBody>
          <a:bodyPr wrap="square" lIns="0" tIns="0" rIns="0" bIns="0" rtlCol="0" anchor="ctr"/>
          <a:lstStyle/>
          <a:p>
            <a:pPr indent="0" marL="0">
              <a:buNone/>
            </a:pPr>
            <a:r>
              <a:rPr lang="en-US" sz="1300" b="1" dirty="0">
                <a:solidFill>
                  <a:srgbClr val="1B6B7A"/>
                </a:solidFill>
                <a:latin typeface="Cambria" pitchFamily="34" charset="0"/>
                <a:ea typeface="Cambria" pitchFamily="34" charset="-122"/>
                <a:cs typeface="Cambria" pitchFamily="34" charset="-120"/>
              </a:rPr>
              <a:t>En el kit</a:t>
            </a:r>
            <a:endParaRPr lang="en-US" sz="1300" dirty="0"/>
          </a:p>
        </p:txBody>
      </p:sp>
      <p:sp>
        <p:nvSpPr>
          <p:cNvPr id="37" name="Shape 34"/>
          <p:cNvSpPr/>
          <p:nvPr/>
        </p:nvSpPr>
        <p:spPr>
          <a:xfrm>
            <a:off x="7287768" y="5120640"/>
            <a:ext cx="4306824" cy="868680"/>
          </a:xfrm>
          <a:prstGeom prst="rect">
            <a:avLst/>
          </a:prstGeom>
          <a:solidFill>
            <a:srgbClr val="1E2A3A"/>
          </a:solidFill>
          <a:ln/>
        </p:spPr>
      </p:sp>
      <p:sp>
        <p:nvSpPr>
          <p:cNvPr id="38" name="Text 35"/>
          <p:cNvSpPr/>
          <p:nvPr/>
        </p:nvSpPr>
        <p:spPr>
          <a:xfrm>
            <a:off x="7470648" y="5120640"/>
            <a:ext cx="3941064" cy="868680"/>
          </a:xfrm>
          <a:prstGeom prst="rect">
            <a:avLst/>
          </a:prstGeom>
          <a:noFill/>
          <a:ln/>
        </p:spPr>
        <p:txBody>
          <a:bodyPr wrap="square" lIns="0" tIns="0" rIns="0" bIns="0" rtlCol="0" anchor="ctr"/>
          <a:lstStyle/>
          <a:p>
            <a:pPr indent="0" marL="0">
              <a:buNone/>
            </a:pPr>
            <a:r>
              <a:rPr lang="en-US" sz="1100" dirty="0">
                <a:solidFill>
                  <a:srgbClr val="D7E3E8"/>
                </a:solidFill>
                <a:latin typeface="Consolas" pitchFamily="34" charset="0"/>
                <a:ea typeface="Consolas" pitchFamily="34" charset="-122"/>
                <a:cs typeface="Consolas" pitchFamily="34" charset="-120"/>
              </a:rPr>
              <a:t>python -m kit.mwbom</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 parámetros y fuentes: config/parametros.yaml</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6 · PROCEDIMIENTO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1B6B7A"/>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RAEE: cohortes, bandas y el mismo supuesto de vida útil</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16</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463040"/>
            <a:ext cx="11027664" cy="548640"/>
          </a:xfrm>
          <a:prstGeom prst="roundRect">
            <a:avLst>
              <a:gd name="adj" fmla="val 10000"/>
            </a:avLst>
          </a:prstGeom>
          <a:solidFill>
            <a:srgbClr val="EEF3F5"/>
          </a:solidFill>
          <a:ln/>
        </p:spPr>
      </p:sp>
      <p:sp>
        <p:nvSpPr>
          <p:cNvPr id="25" name="Text 22"/>
          <p:cNvSpPr/>
          <p:nvPr/>
        </p:nvSpPr>
        <p:spPr>
          <a:xfrm>
            <a:off x="841248" y="1463040"/>
            <a:ext cx="10479024" cy="548640"/>
          </a:xfrm>
          <a:prstGeom prst="rect">
            <a:avLst/>
          </a:prstGeom>
          <a:noFill/>
          <a:ln/>
        </p:spPr>
        <p:txBody>
          <a:bodyPr wrap="square" lIns="0" tIns="0" rIns="0" bIns="0" rtlCol="0" anchor="ctr"/>
          <a:lstStyle/>
          <a:p>
            <a:pPr indent="0" marL="0">
              <a:buNone/>
            </a:pPr>
            <a:r>
              <a:rPr lang="en-US" sz="1350" b="1" dirty="0">
                <a:solidFill>
                  <a:srgbClr val="1B6B7A"/>
                </a:solidFill>
                <a:latin typeface="Calibri" pitchFamily="34" charset="0"/>
                <a:ea typeface="Calibri" pitchFamily="34" charset="-122"/>
                <a:cs typeface="Calibri" pitchFamily="34" charset="-120"/>
              </a:rPr>
              <a:t>Pregunta  </a:t>
            </a:r>
            <a:pPr indent="0" marL="0">
              <a:buNone/>
            </a:pPr>
            <a:r>
              <a:rPr lang="en-US" sz="1350" dirty="0">
                <a:solidFill>
                  <a:srgbClr val="1E293B"/>
                </a:solidFill>
                <a:latin typeface="Calibri" pitchFamily="34" charset="0"/>
                <a:ea typeface="Calibri" pitchFamily="34" charset="-122"/>
                <a:cs typeface="Calibri" pitchFamily="34" charset="-120"/>
              </a:rPr>
              <a:t>¿Cuánto residuo electrónico generan los centros de datos, y cuándo?</a:t>
            </a:r>
            <a:endParaRPr lang="en-US" sz="1350" dirty="0"/>
          </a:p>
        </p:txBody>
      </p:sp>
      <p:sp>
        <p:nvSpPr>
          <p:cNvPr id="26" name="Text 23"/>
          <p:cNvSpPr/>
          <p:nvPr/>
        </p:nvSpPr>
        <p:spPr>
          <a:xfrm>
            <a:off x="566928" y="2194560"/>
            <a:ext cx="3566160"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Fuentes</a:t>
            </a:r>
            <a:endParaRPr lang="en-US" sz="1500" dirty="0"/>
          </a:p>
        </p:txBody>
      </p:sp>
      <p:sp>
        <p:nvSpPr>
          <p:cNvPr id="27" name="Text 24"/>
          <p:cNvSpPr/>
          <p:nvPr/>
        </p:nvSpPr>
        <p:spPr>
          <a:xfrm>
            <a:off x="566928" y="2606040"/>
            <a:ext cx="3566160" cy="3566160"/>
          </a:xfrm>
          <a:prstGeom prst="rect">
            <a:avLst/>
          </a:prstGeom>
          <a:noFill/>
          <a:ln/>
        </p:spPr>
        <p:txBody>
          <a:bodyPr wrap="square" lIns="0" tIns="0" rIns="0" bIns="0" rtlCol="0" anchor="t"/>
          <a:lstStyle/>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Masa importada de la canasta de AEE estricta (método 3)</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Factor de atribución f (método 5)</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Forti, Baldé y Kuehr (2018): directrices de estadísticas de RAEE</a:t>
            </a:r>
            <a:endParaRPr lang="en-US" sz="1150" dirty="0"/>
          </a:p>
          <a:p>
            <a:pPr marL="152400" indent="-152400">
              <a:lnSpc>
                <a:spcPct val="108000"/>
              </a:lnSpc>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Baldé et al. (2024): Monitor Mundial de RAEE, como control de escala</a:t>
            </a:r>
            <a:endParaRPr lang="en-US" sz="1150" dirty="0"/>
          </a:p>
        </p:txBody>
      </p:sp>
      <p:sp>
        <p:nvSpPr>
          <p:cNvPr id="28" name="Text 25"/>
          <p:cNvSpPr/>
          <p:nvPr/>
        </p:nvSpPr>
        <p:spPr>
          <a:xfrm>
            <a:off x="4498848" y="2194560"/>
            <a:ext cx="7095744"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Procedimiento</a:t>
            </a:r>
            <a:endParaRPr lang="en-US" sz="1500" dirty="0"/>
          </a:p>
        </p:txBody>
      </p:sp>
      <p:sp>
        <p:nvSpPr>
          <p:cNvPr id="29" name="Shape 26"/>
          <p:cNvSpPr/>
          <p:nvPr/>
        </p:nvSpPr>
        <p:spPr>
          <a:xfrm>
            <a:off x="4498848" y="2651760"/>
            <a:ext cx="347472" cy="347472"/>
          </a:xfrm>
          <a:prstGeom prst="ellipse">
            <a:avLst/>
          </a:prstGeom>
          <a:solidFill>
            <a:srgbClr val="2A9D8F"/>
          </a:solidFill>
          <a:ln/>
        </p:spPr>
      </p:sp>
      <p:sp>
        <p:nvSpPr>
          <p:cNvPr id="30" name="Text 27"/>
          <p:cNvSpPr/>
          <p:nvPr/>
        </p:nvSpPr>
        <p:spPr>
          <a:xfrm>
            <a:off x="4498848" y="26517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31" name="Text 28"/>
          <p:cNvSpPr/>
          <p:nvPr/>
        </p:nvSpPr>
        <p:spPr>
          <a:xfrm>
            <a:off x="4974336" y="259689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Cohortes: el residuo de un año es la suma de las bajas de todas las cohortes importadas</a:t>
            </a:r>
            <a:endParaRPr lang="en-US" sz="1200" dirty="0"/>
          </a:p>
        </p:txBody>
      </p:sp>
      <p:sp>
        <p:nvSpPr>
          <p:cNvPr id="32" name="Shape 29"/>
          <p:cNvSpPr/>
          <p:nvPr/>
        </p:nvSpPr>
        <p:spPr>
          <a:xfrm>
            <a:off x="4498848" y="3200400"/>
            <a:ext cx="347472" cy="347472"/>
          </a:xfrm>
          <a:prstGeom prst="ellipse">
            <a:avLst/>
          </a:prstGeom>
          <a:solidFill>
            <a:srgbClr val="2A9D8F"/>
          </a:solidFill>
          <a:ln/>
        </p:spPr>
      </p:sp>
      <p:sp>
        <p:nvSpPr>
          <p:cNvPr id="33" name="Text 30"/>
          <p:cNvSpPr/>
          <p:nvPr/>
        </p:nvSpPr>
        <p:spPr>
          <a:xfrm>
            <a:off x="4498848" y="320040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4974336" y="314553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Tres escenarios de vida útil: corta (3–5), central (5–7) y larga (7–10, con reúso)</a:t>
            </a:r>
            <a:endParaRPr lang="en-US" sz="1200" dirty="0"/>
          </a:p>
        </p:txBody>
      </p:sp>
      <p:sp>
        <p:nvSpPr>
          <p:cNvPr id="35" name="Shape 32"/>
          <p:cNvSpPr/>
          <p:nvPr/>
        </p:nvSpPr>
        <p:spPr>
          <a:xfrm>
            <a:off x="4498848" y="3749040"/>
            <a:ext cx="347472" cy="347472"/>
          </a:xfrm>
          <a:prstGeom prst="ellipse">
            <a:avLst/>
          </a:prstGeom>
          <a:solidFill>
            <a:srgbClr val="2A9D8F"/>
          </a:solidFill>
          <a:ln/>
        </p:spPr>
      </p:sp>
      <p:sp>
        <p:nvSpPr>
          <p:cNvPr id="36" name="Text 33"/>
          <p:cNvSpPr/>
          <p:nvPr/>
        </p:nvSpPr>
        <p:spPr>
          <a:xfrm>
            <a:off x="4498848" y="374904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37" name="Text 34"/>
          <p:cNvSpPr/>
          <p:nvPr/>
        </p:nvSpPr>
        <p:spPr>
          <a:xfrm>
            <a:off x="4974336" y="369417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Residuo de centros de datos = f × residuo IT, con el mismo escenario</a:t>
            </a:r>
            <a:endParaRPr lang="en-US" sz="1200" dirty="0"/>
          </a:p>
        </p:txBody>
      </p:sp>
      <p:sp>
        <p:nvSpPr>
          <p:cNvPr id="38" name="Shape 35"/>
          <p:cNvSpPr/>
          <p:nvPr/>
        </p:nvSpPr>
        <p:spPr>
          <a:xfrm>
            <a:off x="4498848" y="4297680"/>
            <a:ext cx="347472" cy="347472"/>
          </a:xfrm>
          <a:prstGeom prst="ellipse">
            <a:avLst/>
          </a:prstGeom>
          <a:solidFill>
            <a:srgbClr val="2A9D8F"/>
          </a:solidFill>
          <a:ln/>
        </p:spPr>
      </p:sp>
      <p:sp>
        <p:nvSpPr>
          <p:cNvPr id="39" name="Text 36"/>
          <p:cNvSpPr/>
          <p:nvPr/>
        </p:nvSpPr>
        <p:spPr>
          <a:xfrm>
            <a:off x="4498848" y="429768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40" name="Text 37"/>
          <p:cNvSpPr/>
          <p:nvPr/>
        </p:nvSpPr>
        <p:spPr>
          <a:xfrm>
            <a:off x="4974336" y="424281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Proyección con cohortes ya importadas, sin importaciones futuras</a:t>
            </a:r>
            <a:endParaRPr lang="en-US" sz="1200" dirty="0"/>
          </a:p>
        </p:txBody>
      </p:sp>
      <p:sp>
        <p:nvSpPr>
          <p:cNvPr id="41" name="Shape 38"/>
          <p:cNvSpPr/>
          <p:nvPr/>
        </p:nvSpPr>
        <p:spPr>
          <a:xfrm>
            <a:off x="4498848" y="4846320"/>
            <a:ext cx="347472" cy="347472"/>
          </a:xfrm>
          <a:prstGeom prst="ellipse">
            <a:avLst/>
          </a:prstGeom>
          <a:solidFill>
            <a:srgbClr val="2A9D8F"/>
          </a:solidFill>
          <a:ln/>
        </p:spPr>
      </p:sp>
      <p:sp>
        <p:nvSpPr>
          <p:cNvPr id="42" name="Text 39"/>
          <p:cNvSpPr/>
          <p:nvPr/>
        </p:nvSpPr>
        <p:spPr>
          <a:xfrm>
            <a:off x="4498848" y="484632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43" name="Text 40"/>
          <p:cNvSpPr/>
          <p:nvPr/>
        </p:nvSpPr>
        <p:spPr>
          <a:xfrm>
            <a:off x="4974336" y="479145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Sensibilidad de segunda vida: una fracción sigue en uso 1 o 2 años</a:t>
            </a:r>
            <a:endParaRPr lang="en-US" sz="1200" dirty="0"/>
          </a:p>
        </p:txBody>
      </p:sp>
      <p:sp>
        <p:nvSpPr>
          <p:cNvPr id="44" name="Shape 41"/>
          <p:cNvSpPr/>
          <p:nvPr/>
        </p:nvSpPr>
        <p:spPr>
          <a:xfrm>
            <a:off x="4498848" y="5394960"/>
            <a:ext cx="347472" cy="347472"/>
          </a:xfrm>
          <a:prstGeom prst="ellipse">
            <a:avLst/>
          </a:prstGeom>
          <a:solidFill>
            <a:srgbClr val="2A9D8F"/>
          </a:solidFill>
          <a:ln/>
        </p:spPr>
      </p:sp>
      <p:sp>
        <p:nvSpPr>
          <p:cNvPr id="45" name="Text 42"/>
          <p:cNvSpPr/>
          <p:nvPr/>
        </p:nvSpPr>
        <p:spPr>
          <a:xfrm>
            <a:off x="4498848" y="53949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46" name="Text 43"/>
          <p:cNvSpPr/>
          <p:nvPr/>
        </p:nvSpPr>
        <p:spPr>
          <a:xfrm>
            <a:off x="4974336" y="5340096"/>
            <a:ext cx="6620256" cy="548640"/>
          </a:xfrm>
          <a:prstGeom prst="rect">
            <a:avLst/>
          </a:prstGeom>
          <a:noFill/>
          <a:ln/>
        </p:spPr>
        <p:txBody>
          <a:bodyPr wrap="square" lIns="0" tIns="0" rIns="0" bIns="0" rtlCol="0" anchor="t"/>
          <a:lstStyle/>
          <a:p>
            <a:pPr indent="0" marL="0">
              <a:lnSpc>
                <a:spcPct val="108000"/>
              </a:lnSpc>
              <a:buNone/>
            </a:pPr>
            <a:r>
              <a:rPr lang="en-US" sz="1200" dirty="0">
                <a:solidFill>
                  <a:srgbClr val="1E293B"/>
                </a:solidFill>
                <a:latin typeface="Calibri" pitchFamily="34" charset="0"/>
                <a:ea typeface="Calibri" pitchFamily="34" charset="-122"/>
                <a:cs typeface="Calibri" pitchFamily="34" charset="-120"/>
              </a:rPr>
              <a:t>Baterías aparte, sin f; correspondencia con la Directiva 2012/19/UE para comparar países</a:t>
            </a:r>
            <a:endParaRPr lang="en-US" sz="1200" dirty="0"/>
          </a:p>
        </p:txBody>
      </p:sp>
      <p:sp>
        <p:nvSpPr>
          <p:cNvPr id="47" name="Text 44"/>
          <p:cNvSpPr/>
          <p:nvPr/>
        </p:nvSpPr>
        <p:spPr>
          <a:xfrm>
            <a:off x="4498848" y="6126480"/>
            <a:ext cx="7095744" cy="256032"/>
          </a:xfrm>
          <a:prstGeom prst="rect">
            <a:avLst/>
          </a:prstGeom>
          <a:noFill/>
          <a:ln/>
        </p:spPr>
        <p:txBody>
          <a:bodyPr wrap="square" lIns="0" tIns="0" rIns="0" bIns="0" rtlCol="0" anchor="ctr"/>
          <a:lstStyle/>
          <a:p>
            <a:pPr algn="r" indent="0" marL="0">
              <a:buNone/>
            </a:pPr>
            <a:r>
              <a:rPr lang="en-US" sz="1000" dirty="0">
                <a:solidFill>
                  <a:srgbClr val="5B6B7A"/>
                </a:solidFill>
                <a:latin typeface="Consolas" pitchFamily="34" charset="0"/>
                <a:ea typeface="Consolas" pitchFamily="34" charset="-122"/>
                <a:cs typeface="Consolas" pitchFamily="34" charset="-120"/>
              </a:rPr>
              <a:t>Ficha: docs/06_raee.md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MÉTODO 6 · TRAMPAS Y RESULTADO</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1B6B7A"/>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EEF3F5"/>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RAEE: que el número no se mueva no lo valida</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17</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Text 21"/>
          <p:cNvSpPr/>
          <p:nvPr/>
        </p:nvSpPr>
        <p:spPr>
          <a:xfrm>
            <a:off x="566928" y="1463040"/>
            <a:ext cx="6400800" cy="365760"/>
          </a:xfrm>
          <a:prstGeom prst="rect">
            <a:avLst/>
          </a:prstGeom>
          <a:noFill/>
          <a:ln/>
        </p:spPr>
        <p:txBody>
          <a:bodyPr wrap="square" lIns="0" tIns="0" rIns="0" bIns="0" rtlCol="0" anchor="ctr"/>
          <a:lstStyle/>
          <a:p>
            <a:pPr indent="0" marL="0">
              <a:buNone/>
            </a:pPr>
            <a:r>
              <a:rPr lang="en-US" sz="1500" b="1" dirty="0">
                <a:solidFill>
                  <a:srgbClr val="B5402E"/>
                </a:solidFill>
                <a:latin typeface="Cambria" pitchFamily="34" charset="0"/>
                <a:ea typeface="Cambria" pitchFamily="34" charset="-122"/>
                <a:cs typeface="Cambria" pitchFamily="34" charset="-120"/>
              </a:rPr>
              <a:t>Lo que nos hizo equivocar</a:t>
            </a:r>
            <a:endParaRPr lang="en-US" sz="1500" dirty="0"/>
          </a:p>
        </p:txBody>
      </p:sp>
      <p:sp>
        <p:nvSpPr>
          <p:cNvPr id="25" name="Shape 22"/>
          <p:cNvSpPr/>
          <p:nvPr/>
        </p:nvSpPr>
        <p:spPr>
          <a:xfrm>
            <a:off x="566928" y="192024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6" name="Shape 23"/>
          <p:cNvSpPr/>
          <p:nvPr/>
        </p:nvSpPr>
        <p:spPr>
          <a:xfrm>
            <a:off x="566928" y="1965960"/>
            <a:ext cx="73152" cy="1036320"/>
          </a:xfrm>
          <a:prstGeom prst="rect">
            <a:avLst/>
          </a:prstGeom>
          <a:solidFill>
            <a:srgbClr val="B5402E"/>
          </a:solidFill>
          <a:ln/>
        </p:spPr>
      </p:sp>
      <p:sp>
        <p:nvSpPr>
          <p:cNvPr id="27" name="Text 24"/>
          <p:cNvSpPr/>
          <p:nvPr/>
        </p:nvSpPr>
        <p:spPr>
          <a:xfrm>
            <a:off x="795528" y="197510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La compensación no es validación.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Al corregir la serie, el residuo total y f se movieron en sentidos opuestos: se compensaron en 2026, no en el escenario corto.</a:t>
            </a:r>
            <a:endParaRPr lang="en-US" sz="1150" dirty="0"/>
          </a:p>
        </p:txBody>
      </p:sp>
      <p:sp>
        <p:nvSpPr>
          <p:cNvPr id="28" name="Shape 25"/>
          <p:cNvSpPr/>
          <p:nvPr/>
        </p:nvSpPr>
        <p:spPr>
          <a:xfrm>
            <a:off x="566928" y="318516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9" name="Shape 26"/>
          <p:cNvSpPr/>
          <p:nvPr/>
        </p:nvSpPr>
        <p:spPr>
          <a:xfrm>
            <a:off x="566928" y="3230880"/>
            <a:ext cx="73152" cy="1036320"/>
          </a:xfrm>
          <a:prstGeom prst="rect">
            <a:avLst/>
          </a:prstGeom>
          <a:solidFill>
            <a:srgbClr val="B5402E"/>
          </a:solidFill>
          <a:ln/>
        </p:spPr>
      </p:sp>
      <p:sp>
        <p:nvSpPr>
          <p:cNvPr id="30" name="Text 27"/>
          <p:cNvSpPr/>
          <p:nvPr/>
        </p:nvSpPr>
        <p:spPr>
          <a:xfrm>
            <a:off x="795528" y="324002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Retiro no es descarte.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Definir qué representa la vida útil antes de interpretar el residuo.</a:t>
            </a:r>
            <a:endParaRPr lang="en-US" sz="1150" dirty="0"/>
          </a:p>
        </p:txBody>
      </p:sp>
      <p:sp>
        <p:nvSpPr>
          <p:cNvPr id="31" name="Shape 28"/>
          <p:cNvSpPr/>
          <p:nvPr/>
        </p:nvSpPr>
        <p:spPr>
          <a:xfrm>
            <a:off x="566928" y="4450080"/>
            <a:ext cx="6400800" cy="1127760"/>
          </a:xfrm>
          <a:prstGeom prst="roundRect">
            <a:avLst>
              <a:gd name="adj" fmla="val 5676"/>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2" name="Shape 29"/>
          <p:cNvSpPr/>
          <p:nvPr/>
        </p:nvSpPr>
        <p:spPr>
          <a:xfrm>
            <a:off x="566928" y="4495800"/>
            <a:ext cx="73152" cy="1036320"/>
          </a:xfrm>
          <a:prstGeom prst="rect">
            <a:avLst/>
          </a:prstGeom>
          <a:solidFill>
            <a:srgbClr val="B5402E"/>
          </a:solidFill>
          <a:ln/>
        </p:spPr>
      </p:sp>
      <p:sp>
        <p:nvSpPr>
          <p:cNvPr id="33" name="Text 30"/>
          <p:cNvSpPr/>
          <p:nvPr/>
        </p:nvSpPr>
        <p:spPr>
          <a:xfrm>
            <a:off x="795528" y="4504944"/>
            <a:ext cx="6035040" cy="1018032"/>
          </a:xfrm>
          <a:prstGeom prst="rect">
            <a:avLst/>
          </a:prstGeom>
          <a:noFill/>
          <a:ln/>
        </p:spPr>
        <p:txBody>
          <a:bodyPr wrap="square" lIns="0" tIns="0" rIns="0" bIns="0" rtlCol="0" anchor="ctr"/>
          <a:lstStyle/>
          <a:p>
            <a:pPr indent="0" marL="0">
              <a:lnSpc>
                <a:spcPct val="110000"/>
              </a:lnSpc>
              <a:buNone/>
            </a:pPr>
            <a:r>
              <a:rPr lang="en-US" sz="1150" b="1" dirty="0">
                <a:solidFill>
                  <a:srgbClr val="B5402E"/>
                </a:solidFill>
                <a:latin typeface="Calibri" pitchFamily="34" charset="0"/>
                <a:ea typeface="Calibri" pitchFamily="34" charset="-122"/>
                <a:cs typeface="Calibri" pitchFamily="34" charset="-120"/>
              </a:rPr>
              <a:t>La segunda vida puede subir el residuo de una ventana.  </a:t>
            </a:r>
            <a:pPr indent="0" marL="0">
              <a:lnSpc>
                <a:spcPct val="110000"/>
              </a:lnSpc>
              <a:buNone/>
            </a:pPr>
            <a:r>
              <a:rPr lang="en-US" sz="1150" dirty="0">
                <a:solidFill>
                  <a:srgbClr val="1E293B"/>
                </a:solidFill>
                <a:latin typeface="Calibri" pitchFamily="34" charset="0"/>
                <a:ea typeface="Calibri" pitchFamily="34" charset="-122"/>
                <a:cs typeface="Calibri" pitchFamily="34" charset="-120"/>
              </a:rPr>
              <a:t>Trae retiros altos de años anteriores.</a:t>
            </a:r>
            <a:endParaRPr lang="en-US" sz="1150" dirty="0"/>
          </a:p>
        </p:txBody>
      </p:sp>
      <p:sp>
        <p:nvSpPr>
          <p:cNvPr id="34" name="Shape 31"/>
          <p:cNvSpPr/>
          <p:nvPr/>
        </p:nvSpPr>
        <p:spPr>
          <a:xfrm>
            <a:off x="7287768" y="1463040"/>
            <a:ext cx="4306824" cy="3108960"/>
          </a:xfrm>
          <a:prstGeom prst="roundRect">
            <a:avLst>
              <a:gd name="adj" fmla="val 2353"/>
            </a:avLst>
          </a:prstGeom>
          <a:solidFill>
            <a:srgbClr val="14213D"/>
          </a:solidFill>
          <a:ln/>
        </p:spPr>
      </p:sp>
      <p:sp>
        <p:nvSpPr>
          <p:cNvPr id="35" name="Text 32"/>
          <p:cNvSpPr/>
          <p:nvPr/>
        </p:nvSpPr>
        <p:spPr>
          <a:xfrm>
            <a:off x="7562088" y="1463040"/>
            <a:ext cx="3758184" cy="3108960"/>
          </a:xfrm>
          <a:prstGeom prst="rect">
            <a:avLst/>
          </a:prstGeom>
          <a:noFill/>
          <a:ln/>
        </p:spPr>
        <p:txBody>
          <a:bodyPr wrap="square" lIns="0" tIns="0" rIns="0" bIns="0" rtlCol="0" anchor="ctr"/>
          <a:lstStyle/>
          <a:p>
            <a:pPr indent="0" marL="0">
              <a:lnSpc>
                <a:spcPct val="115000"/>
              </a:lnSpc>
              <a:buNone/>
            </a:pPr>
            <a:r>
              <a:rPr lang="en-US" sz="1400" b="1" dirty="0">
                <a:solidFill>
                  <a:srgbClr val="2A9D8F"/>
                </a:solidFill>
                <a:latin typeface="Calibri" pitchFamily="34" charset="0"/>
                <a:ea typeface="Calibri" pitchFamily="34" charset="-122"/>
                <a:cs typeface="Calibri" pitchFamily="34" charset="-120"/>
              </a:rPr>
              <a:t>Resultado en Argentina</a:t>
            </a:r>
            <a:endParaRPr lang="en-US" sz="1400" dirty="0"/>
          </a:p>
          <a:p>
            <a:pPr indent="0" marL="0">
              <a:lnSpc>
                <a:spcPct val="1150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En 2026, unas 503 t de RAEE de centros de datos de más de 1 MW (banda 321–573), cerca del 0,1% del RAEE nacional. Para 2027–2030, unas 1.500 t proyectadas desde cohortes ya importadas; con segunda vida, hasta 1.969 t.</a:t>
            </a:r>
            <a:endParaRPr lang="en-US" sz="1400" dirty="0"/>
          </a:p>
        </p:txBody>
      </p:sp>
      <p:sp>
        <p:nvSpPr>
          <p:cNvPr id="36" name="Text 33"/>
          <p:cNvSpPr/>
          <p:nvPr/>
        </p:nvSpPr>
        <p:spPr>
          <a:xfrm>
            <a:off x="7287768" y="4754880"/>
            <a:ext cx="4306824" cy="320040"/>
          </a:xfrm>
          <a:prstGeom prst="rect">
            <a:avLst/>
          </a:prstGeom>
          <a:noFill/>
          <a:ln/>
        </p:spPr>
        <p:txBody>
          <a:bodyPr wrap="square" lIns="0" tIns="0" rIns="0" bIns="0" rtlCol="0" anchor="ctr"/>
          <a:lstStyle/>
          <a:p>
            <a:pPr indent="0" marL="0">
              <a:buNone/>
            </a:pPr>
            <a:r>
              <a:rPr lang="en-US" sz="1300" b="1" dirty="0">
                <a:solidFill>
                  <a:srgbClr val="1B6B7A"/>
                </a:solidFill>
                <a:latin typeface="Cambria" pitchFamily="34" charset="0"/>
                <a:ea typeface="Cambria" pitchFamily="34" charset="-122"/>
                <a:cs typeface="Cambria" pitchFamily="34" charset="-120"/>
              </a:rPr>
              <a:t>En el kit</a:t>
            </a:r>
            <a:endParaRPr lang="en-US" sz="1300" dirty="0"/>
          </a:p>
        </p:txBody>
      </p:sp>
      <p:sp>
        <p:nvSpPr>
          <p:cNvPr id="37" name="Shape 34"/>
          <p:cNvSpPr/>
          <p:nvPr/>
        </p:nvSpPr>
        <p:spPr>
          <a:xfrm>
            <a:off x="7287768" y="5120640"/>
            <a:ext cx="4306824" cy="868680"/>
          </a:xfrm>
          <a:prstGeom prst="rect">
            <a:avLst/>
          </a:prstGeom>
          <a:solidFill>
            <a:srgbClr val="1E2A3A"/>
          </a:solidFill>
          <a:ln/>
        </p:spPr>
      </p:sp>
      <p:sp>
        <p:nvSpPr>
          <p:cNvPr id="38" name="Text 35"/>
          <p:cNvSpPr/>
          <p:nvPr/>
        </p:nvSpPr>
        <p:spPr>
          <a:xfrm>
            <a:off x="7470648" y="5120640"/>
            <a:ext cx="3941064" cy="868680"/>
          </a:xfrm>
          <a:prstGeom prst="rect">
            <a:avLst/>
          </a:prstGeom>
          <a:noFill/>
          <a:ln/>
        </p:spPr>
        <p:txBody>
          <a:bodyPr wrap="square" lIns="0" tIns="0" rIns="0" bIns="0" rtlCol="0" anchor="ctr"/>
          <a:lstStyle/>
          <a:p>
            <a:pPr indent="0" marL="0">
              <a:buNone/>
            </a:pPr>
            <a:r>
              <a:rPr lang="en-US" sz="1100" dirty="0">
                <a:solidFill>
                  <a:srgbClr val="D7E3E8"/>
                </a:solidFill>
                <a:latin typeface="Consolas" pitchFamily="34" charset="0"/>
                <a:ea typeface="Consolas" pitchFamily="34" charset="-122"/>
                <a:cs typeface="Consolas" pitchFamily="34" charset="-120"/>
              </a:rPr>
              <a:t>python -m kit.raee</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 banda, segunda vida y nivel DC</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ANTES DE LEER SUS RESULTADOS</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1B6B7A"/>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Seis controles que conviene hacer siempre</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18</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600200"/>
            <a:ext cx="3493008" cy="1371600"/>
          </a:xfrm>
          <a:prstGeom prst="roundRect">
            <a:avLst>
              <a:gd name="adj" fmla="val 466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5" name="Shape 22"/>
          <p:cNvSpPr/>
          <p:nvPr/>
        </p:nvSpPr>
        <p:spPr>
          <a:xfrm>
            <a:off x="566928" y="1645920"/>
            <a:ext cx="73152" cy="1280160"/>
          </a:xfrm>
          <a:prstGeom prst="rect">
            <a:avLst/>
          </a:prstGeom>
          <a:solidFill>
            <a:srgbClr val="1B6B7A"/>
          </a:solidFill>
          <a:ln/>
        </p:spPr>
      </p:sp>
      <p:sp>
        <p:nvSpPr>
          <p:cNvPr id="26" name="Text 23"/>
          <p:cNvSpPr/>
          <p:nvPr/>
        </p:nvSpPr>
        <p:spPr>
          <a:xfrm>
            <a:off x="795528" y="1655064"/>
            <a:ext cx="3127248" cy="1261872"/>
          </a:xfrm>
          <a:prstGeom prst="rect">
            <a:avLst/>
          </a:prstGeom>
          <a:noFill/>
          <a:ln/>
        </p:spPr>
        <p:txBody>
          <a:bodyPr wrap="square" lIns="0" tIns="0" rIns="0" bIns="0" rtlCol="0" anchor="ctr"/>
          <a:lstStyle/>
          <a:p>
            <a:pPr indent="0" marL="0">
              <a:lnSpc>
                <a:spcPct val="110000"/>
              </a:lnSpc>
              <a:buNone/>
            </a:pPr>
            <a:r>
              <a:rPr lang="en-US" sz="1300" b="1" dirty="0">
                <a:solidFill>
                  <a:srgbClr val="1B6B7A"/>
                </a:solidFill>
                <a:latin typeface="Calibri" pitchFamily="34" charset="0"/>
                <a:ea typeface="Calibri" pitchFamily="34" charset="-122"/>
                <a:cs typeface="Calibri" pitchFamily="34" charset="-120"/>
              </a:rPr>
              <a:t>Códigos vacíos y sin predecesor.  </a:t>
            </a:r>
            <a:pPr indent="0" marL="0">
              <a:lnSpc>
                <a:spcPct val="110000"/>
              </a:lnSpc>
              <a:buNone/>
            </a:pPr>
            <a:r>
              <a:rPr lang="en-US" sz="1300" dirty="0">
                <a:solidFill>
                  <a:srgbClr val="1E293B"/>
                </a:solidFill>
                <a:latin typeface="Calibri" pitchFamily="34" charset="0"/>
                <a:ea typeface="Calibri" pitchFamily="34" charset="-122"/>
                <a:cs typeface="Calibri" pitchFamily="34" charset="-120"/>
              </a:rPr>
              <a:t>después de cada carga de la aduana</a:t>
            </a:r>
            <a:endParaRPr lang="en-US" sz="1300" dirty="0"/>
          </a:p>
        </p:txBody>
      </p:sp>
      <p:sp>
        <p:nvSpPr>
          <p:cNvPr id="27" name="Shape 24"/>
          <p:cNvSpPr/>
          <p:nvPr/>
        </p:nvSpPr>
        <p:spPr>
          <a:xfrm>
            <a:off x="4334256" y="1600200"/>
            <a:ext cx="3493008" cy="1371600"/>
          </a:xfrm>
          <a:prstGeom prst="roundRect">
            <a:avLst>
              <a:gd name="adj" fmla="val 466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28" name="Shape 25"/>
          <p:cNvSpPr/>
          <p:nvPr/>
        </p:nvSpPr>
        <p:spPr>
          <a:xfrm>
            <a:off x="4334256" y="1645920"/>
            <a:ext cx="73152" cy="1280160"/>
          </a:xfrm>
          <a:prstGeom prst="rect">
            <a:avLst/>
          </a:prstGeom>
          <a:solidFill>
            <a:srgbClr val="1B6B7A"/>
          </a:solidFill>
          <a:ln/>
        </p:spPr>
      </p:sp>
      <p:sp>
        <p:nvSpPr>
          <p:cNvPr id="29" name="Text 26"/>
          <p:cNvSpPr/>
          <p:nvPr/>
        </p:nvSpPr>
        <p:spPr>
          <a:xfrm>
            <a:off x="4562856" y="1655064"/>
            <a:ext cx="3127248" cy="1261872"/>
          </a:xfrm>
          <a:prstGeom prst="rect">
            <a:avLst/>
          </a:prstGeom>
          <a:noFill/>
          <a:ln/>
        </p:spPr>
        <p:txBody>
          <a:bodyPr wrap="square" lIns="0" tIns="0" rIns="0" bIns="0" rtlCol="0" anchor="ctr"/>
          <a:lstStyle/>
          <a:p>
            <a:pPr indent="0" marL="0">
              <a:lnSpc>
                <a:spcPct val="110000"/>
              </a:lnSpc>
              <a:buNone/>
            </a:pPr>
            <a:r>
              <a:rPr lang="en-US" sz="1300" b="1" dirty="0">
                <a:solidFill>
                  <a:srgbClr val="1B6B7A"/>
                </a:solidFill>
                <a:latin typeface="Calibri" pitchFamily="34" charset="0"/>
                <a:ea typeface="Calibri" pitchFamily="34" charset="-122"/>
                <a:cs typeface="Calibri" pitchFamily="34" charset="-120"/>
              </a:rPr>
              <a:t>Base de la potencia.  </a:t>
            </a:r>
            <a:pPr indent="0" marL="0">
              <a:lnSpc>
                <a:spcPct val="110000"/>
              </a:lnSpc>
              <a:buNone/>
            </a:pPr>
            <a:r>
              <a:rPr lang="en-US" sz="1300" dirty="0">
                <a:solidFill>
                  <a:srgbClr val="1E293B"/>
                </a:solidFill>
                <a:latin typeface="Calibri" pitchFamily="34" charset="0"/>
                <a:ea typeface="Calibri" pitchFamily="34" charset="-122"/>
                <a:cs typeface="Calibri" pitchFamily="34" charset="-120"/>
              </a:rPr>
              <a:t>IT, total o no aclarada: nunca sumar bases distintas</a:t>
            </a:r>
            <a:endParaRPr lang="en-US" sz="1300" dirty="0"/>
          </a:p>
        </p:txBody>
      </p:sp>
      <p:sp>
        <p:nvSpPr>
          <p:cNvPr id="30" name="Shape 27"/>
          <p:cNvSpPr/>
          <p:nvPr/>
        </p:nvSpPr>
        <p:spPr>
          <a:xfrm>
            <a:off x="8101584" y="1600200"/>
            <a:ext cx="3493008" cy="1371600"/>
          </a:xfrm>
          <a:prstGeom prst="roundRect">
            <a:avLst>
              <a:gd name="adj" fmla="val 466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1" name="Shape 28"/>
          <p:cNvSpPr/>
          <p:nvPr/>
        </p:nvSpPr>
        <p:spPr>
          <a:xfrm>
            <a:off x="8101584" y="1645920"/>
            <a:ext cx="73152" cy="1280160"/>
          </a:xfrm>
          <a:prstGeom prst="rect">
            <a:avLst/>
          </a:prstGeom>
          <a:solidFill>
            <a:srgbClr val="1B6B7A"/>
          </a:solidFill>
          <a:ln/>
        </p:spPr>
      </p:sp>
      <p:sp>
        <p:nvSpPr>
          <p:cNvPr id="32" name="Text 29"/>
          <p:cNvSpPr/>
          <p:nvPr/>
        </p:nvSpPr>
        <p:spPr>
          <a:xfrm>
            <a:off x="8330184" y="1655064"/>
            <a:ext cx="3127248" cy="1261872"/>
          </a:xfrm>
          <a:prstGeom prst="rect">
            <a:avLst/>
          </a:prstGeom>
          <a:noFill/>
          <a:ln/>
        </p:spPr>
        <p:txBody>
          <a:bodyPr wrap="square" lIns="0" tIns="0" rIns="0" bIns="0" rtlCol="0" anchor="ctr"/>
          <a:lstStyle/>
          <a:p>
            <a:pPr indent="0" marL="0">
              <a:lnSpc>
                <a:spcPct val="110000"/>
              </a:lnSpc>
              <a:buNone/>
            </a:pPr>
            <a:r>
              <a:rPr lang="en-US" sz="1300" b="1" dirty="0">
                <a:solidFill>
                  <a:srgbClr val="1B6B7A"/>
                </a:solidFill>
                <a:latin typeface="Calibri" pitchFamily="34" charset="0"/>
                <a:ea typeface="Calibri" pitchFamily="34" charset="-122"/>
                <a:cs typeface="Calibri" pitchFamily="34" charset="-120"/>
              </a:rPr>
              <a:t>Fuente primaria.  </a:t>
            </a:r>
            <a:pPr indent="0" marL="0">
              <a:lnSpc>
                <a:spcPct val="110000"/>
              </a:lnSpc>
              <a:buNone/>
            </a:pPr>
            <a:r>
              <a:rPr lang="en-US" sz="1300" dirty="0">
                <a:solidFill>
                  <a:srgbClr val="1E293B"/>
                </a:solidFill>
                <a:latin typeface="Calibri" pitchFamily="34" charset="0"/>
                <a:ea typeface="Calibri" pitchFamily="34" charset="-122"/>
                <a:cs typeface="Calibri" pitchFamily="34" charset="-120"/>
              </a:rPr>
              <a:t>las bases secundarias solo descubren</a:t>
            </a:r>
            <a:endParaRPr lang="en-US" sz="1300" dirty="0"/>
          </a:p>
        </p:txBody>
      </p:sp>
      <p:sp>
        <p:nvSpPr>
          <p:cNvPr id="33" name="Shape 30"/>
          <p:cNvSpPr/>
          <p:nvPr/>
        </p:nvSpPr>
        <p:spPr>
          <a:xfrm>
            <a:off x="566928" y="3200400"/>
            <a:ext cx="3493008" cy="1371600"/>
          </a:xfrm>
          <a:prstGeom prst="roundRect">
            <a:avLst>
              <a:gd name="adj" fmla="val 466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4" name="Shape 31"/>
          <p:cNvSpPr/>
          <p:nvPr/>
        </p:nvSpPr>
        <p:spPr>
          <a:xfrm>
            <a:off x="566928" y="3246120"/>
            <a:ext cx="73152" cy="1280160"/>
          </a:xfrm>
          <a:prstGeom prst="rect">
            <a:avLst/>
          </a:prstGeom>
          <a:solidFill>
            <a:srgbClr val="B5402E"/>
          </a:solidFill>
          <a:ln/>
        </p:spPr>
      </p:sp>
      <p:sp>
        <p:nvSpPr>
          <p:cNvPr id="35" name="Text 32"/>
          <p:cNvSpPr/>
          <p:nvPr/>
        </p:nvSpPr>
        <p:spPr>
          <a:xfrm>
            <a:off x="795528" y="3255264"/>
            <a:ext cx="3127248" cy="1261872"/>
          </a:xfrm>
          <a:prstGeom prst="rect">
            <a:avLst/>
          </a:prstGeom>
          <a:noFill/>
          <a:ln/>
        </p:spPr>
        <p:txBody>
          <a:bodyPr wrap="square" lIns="0" tIns="0" rIns="0" bIns="0" rtlCol="0" anchor="ctr"/>
          <a:lstStyle/>
          <a:p>
            <a:pPr indent="0" marL="0">
              <a:lnSpc>
                <a:spcPct val="110000"/>
              </a:lnSpc>
              <a:buNone/>
            </a:pPr>
            <a:r>
              <a:rPr lang="en-US" sz="1300" b="1" dirty="0">
                <a:solidFill>
                  <a:srgbClr val="B5402E"/>
                </a:solidFill>
                <a:latin typeface="Calibri" pitchFamily="34" charset="0"/>
                <a:ea typeface="Calibri" pitchFamily="34" charset="-122"/>
                <a:cs typeface="Calibri" pitchFamily="34" charset="-120"/>
              </a:rPr>
              <a:t>Clasificación arancelaria.  </a:t>
            </a:r>
            <a:pPr indent="0" marL="0">
              <a:lnSpc>
                <a:spcPct val="110000"/>
              </a:lnSpc>
              <a:buNone/>
            </a:pPr>
            <a:r>
              <a:rPr lang="en-US" sz="1300" dirty="0">
                <a:solidFill>
                  <a:srgbClr val="1E293B"/>
                </a:solidFill>
                <a:latin typeface="Calibri" pitchFamily="34" charset="0"/>
                <a:ea typeface="Calibri" pitchFamily="34" charset="-122"/>
                <a:cs typeface="Calibri" pitchFamily="34" charset="-120"/>
              </a:rPr>
              <a:t>baterías de arranque en 8507.10; minería en 8543.70: fuera de la canasta</a:t>
            </a:r>
            <a:endParaRPr lang="en-US" sz="1300" dirty="0"/>
          </a:p>
        </p:txBody>
      </p:sp>
      <p:sp>
        <p:nvSpPr>
          <p:cNvPr id="36" name="Shape 33"/>
          <p:cNvSpPr/>
          <p:nvPr/>
        </p:nvSpPr>
        <p:spPr>
          <a:xfrm>
            <a:off x="4334256" y="3200400"/>
            <a:ext cx="3493008" cy="1371600"/>
          </a:xfrm>
          <a:prstGeom prst="roundRect">
            <a:avLst>
              <a:gd name="adj" fmla="val 466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37" name="Shape 34"/>
          <p:cNvSpPr/>
          <p:nvPr/>
        </p:nvSpPr>
        <p:spPr>
          <a:xfrm>
            <a:off x="4334256" y="3246120"/>
            <a:ext cx="73152" cy="1280160"/>
          </a:xfrm>
          <a:prstGeom prst="rect">
            <a:avLst/>
          </a:prstGeom>
          <a:solidFill>
            <a:srgbClr val="B5402E"/>
          </a:solidFill>
          <a:ln/>
        </p:spPr>
      </p:sp>
      <p:sp>
        <p:nvSpPr>
          <p:cNvPr id="38" name="Text 35"/>
          <p:cNvSpPr/>
          <p:nvPr/>
        </p:nvSpPr>
        <p:spPr>
          <a:xfrm>
            <a:off x="4562856" y="3255264"/>
            <a:ext cx="3127248" cy="1261872"/>
          </a:xfrm>
          <a:prstGeom prst="rect">
            <a:avLst/>
          </a:prstGeom>
          <a:noFill/>
          <a:ln/>
        </p:spPr>
        <p:txBody>
          <a:bodyPr wrap="square" lIns="0" tIns="0" rIns="0" bIns="0" rtlCol="0" anchor="ctr"/>
          <a:lstStyle/>
          <a:p>
            <a:pPr indent="0" marL="0">
              <a:lnSpc>
                <a:spcPct val="110000"/>
              </a:lnSpc>
              <a:buNone/>
            </a:pPr>
            <a:r>
              <a:rPr lang="en-US" sz="1300" b="1" dirty="0">
                <a:solidFill>
                  <a:srgbClr val="B5402E"/>
                </a:solidFill>
                <a:latin typeface="Calibri" pitchFamily="34" charset="0"/>
                <a:ea typeface="Calibri" pitchFamily="34" charset="-122"/>
                <a:cs typeface="Calibri" pitchFamily="34" charset="-120"/>
              </a:rPr>
              <a:t>Compensaciones.  </a:t>
            </a:r>
            <a:pPr indent="0" marL="0">
              <a:lnSpc>
                <a:spcPct val="110000"/>
              </a:lnSpc>
              <a:buNone/>
            </a:pPr>
            <a:r>
              <a:rPr lang="en-US" sz="1300" dirty="0">
                <a:solidFill>
                  <a:srgbClr val="1E293B"/>
                </a:solidFill>
                <a:latin typeface="Calibri" pitchFamily="34" charset="0"/>
                <a:ea typeface="Calibri" pitchFamily="34" charset="-122"/>
                <a:cs typeface="Calibri" pitchFamily="34" charset="-120"/>
              </a:rPr>
              <a:t>un resultado estable no está validado</a:t>
            </a:r>
            <a:endParaRPr lang="en-US" sz="1300" dirty="0"/>
          </a:p>
        </p:txBody>
      </p:sp>
      <p:sp>
        <p:nvSpPr>
          <p:cNvPr id="39" name="Shape 36"/>
          <p:cNvSpPr/>
          <p:nvPr/>
        </p:nvSpPr>
        <p:spPr>
          <a:xfrm>
            <a:off x="8101584" y="3200400"/>
            <a:ext cx="3493008" cy="1371600"/>
          </a:xfrm>
          <a:prstGeom prst="roundRect">
            <a:avLst>
              <a:gd name="adj" fmla="val 4667"/>
            </a:avLst>
          </a:prstGeom>
          <a:solidFill>
            <a:srgbClr val="FFFFFF"/>
          </a:solidFill>
          <a:ln w="12700">
            <a:solidFill>
              <a:srgbClr val="CBD7DC"/>
            </a:solidFill>
            <a:prstDash val="solid"/>
          </a:ln>
          <a:effectLst>
            <a:outerShdw sx="100000" sy="100000" kx="0" ky="0" algn="bl" rotWithShape="0" blurRad="76200" dist="25400" dir="5400000">
              <a:srgbClr val="000000">
                <a:alpha val="10000"/>
              </a:srgbClr>
            </a:outerShdw>
          </a:effectLst>
        </p:spPr>
      </p:sp>
      <p:sp>
        <p:nvSpPr>
          <p:cNvPr id="40" name="Shape 37"/>
          <p:cNvSpPr/>
          <p:nvPr/>
        </p:nvSpPr>
        <p:spPr>
          <a:xfrm>
            <a:off x="8101584" y="3246120"/>
            <a:ext cx="73152" cy="1280160"/>
          </a:xfrm>
          <a:prstGeom prst="rect">
            <a:avLst/>
          </a:prstGeom>
          <a:solidFill>
            <a:srgbClr val="B5402E"/>
          </a:solidFill>
          <a:ln/>
        </p:spPr>
      </p:sp>
      <p:sp>
        <p:nvSpPr>
          <p:cNvPr id="41" name="Text 38"/>
          <p:cNvSpPr/>
          <p:nvPr/>
        </p:nvSpPr>
        <p:spPr>
          <a:xfrm>
            <a:off x="8330184" y="3255264"/>
            <a:ext cx="3127248" cy="1261872"/>
          </a:xfrm>
          <a:prstGeom prst="rect">
            <a:avLst/>
          </a:prstGeom>
          <a:noFill/>
          <a:ln/>
        </p:spPr>
        <p:txBody>
          <a:bodyPr wrap="square" lIns="0" tIns="0" rIns="0" bIns="0" rtlCol="0" anchor="ctr"/>
          <a:lstStyle/>
          <a:p>
            <a:pPr indent="0" marL="0">
              <a:lnSpc>
                <a:spcPct val="110000"/>
              </a:lnSpc>
              <a:buNone/>
            </a:pPr>
            <a:r>
              <a:rPr lang="en-US" sz="1300" b="1" dirty="0">
                <a:solidFill>
                  <a:srgbClr val="B5402E"/>
                </a:solidFill>
                <a:latin typeface="Calibri" pitchFamily="34" charset="0"/>
                <a:ea typeface="Calibri" pitchFamily="34" charset="-122"/>
                <a:cs typeface="Calibri" pitchFamily="34" charset="-120"/>
              </a:rPr>
              <a:t>Redondeos.  </a:t>
            </a:r>
            <a:pPr indent="0" marL="0">
              <a:lnSpc>
                <a:spcPct val="110000"/>
              </a:lnSpc>
              <a:buNone/>
            </a:pPr>
            <a:r>
              <a:rPr lang="en-US" sz="1300" dirty="0">
                <a:solidFill>
                  <a:srgbClr val="1E293B"/>
                </a:solidFill>
                <a:latin typeface="Calibri" pitchFamily="34" charset="0"/>
                <a:ea typeface="Calibri" pitchFamily="34" charset="-122"/>
                <a:cs typeface="Calibri" pitchFamily="34" charset="-120"/>
              </a:rPr>
              <a:t>el mismo f, sin redondear, en todas las cifras derivadas</a:t>
            </a:r>
            <a:endParaRPr lang="en-US" sz="1300" dirty="0"/>
          </a:p>
        </p:txBody>
      </p:sp>
      <p:sp>
        <p:nvSpPr>
          <p:cNvPr id="42" name="Shape 39"/>
          <p:cNvSpPr/>
          <p:nvPr/>
        </p:nvSpPr>
        <p:spPr>
          <a:xfrm>
            <a:off x="566928" y="5029200"/>
            <a:ext cx="11027664" cy="822960"/>
          </a:xfrm>
          <a:prstGeom prst="roundRect">
            <a:avLst>
              <a:gd name="adj" fmla="val 6667"/>
            </a:avLst>
          </a:prstGeom>
          <a:solidFill>
            <a:srgbClr val="14213D"/>
          </a:solidFill>
          <a:ln/>
        </p:spPr>
      </p:sp>
      <p:sp>
        <p:nvSpPr>
          <p:cNvPr id="43" name="Text 40"/>
          <p:cNvSpPr/>
          <p:nvPr/>
        </p:nvSpPr>
        <p:spPr>
          <a:xfrm>
            <a:off x="886968" y="5029200"/>
            <a:ext cx="10387584" cy="822960"/>
          </a:xfrm>
          <a:prstGeom prst="rect">
            <a:avLst/>
          </a:prstGeom>
          <a:noFill/>
          <a:ln/>
        </p:spPr>
        <p:txBody>
          <a:bodyPr wrap="square" lIns="0" tIns="0" rIns="0" bIns="0" rtlCol="0" anchor="ctr"/>
          <a:lstStyle/>
          <a:p>
            <a:pPr indent="0" marL="0">
              <a:lnSpc>
                <a:spcPct val="110000"/>
              </a:lnSpc>
              <a:buNone/>
            </a:pPr>
            <a:r>
              <a:rPr lang="en-US" sz="1300" b="1" dirty="0">
                <a:solidFill>
                  <a:srgbClr val="2A9D8F"/>
                </a:solidFill>
                <a:latin typeface="Calibri" pitchFamily="34" charset="0"/>
                <a:ea typeface="Calibri" pitchFamily="34" charset="-122"/>
                <a:cs typeface="Calibri" pitchFamily="34" charset="-120"/>
              </a:rPr>
              <a:t>Lista completa:  </a:t>
            </a:r>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docs/trampas.md, con los casos argentinos que las originaron.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66928" y="365760"/>
            <a:ext cx="182880" cy="182880"/>
          </a:xfrm>
          <a:prstGeom prst="ellipse">
            <a:avLst/>
          </a:prstGeom>
          <a:solidFill>
            <a:srgbClr val="2A9D8F"/>
          </a:solidFill>
          <a:ln/>
        </p:spPr>
      </p:sp>
      <p:sp>
        <p:nvSpPr>
          <p:cNvPr id="3" name="Text 1"/>
          <p:cNvSpPr/>
          <p:nvPr/>
        </p:nvSpPr>
        <p:spPr>
          <a:xfrm>
            <a:off x="841248" y="310896"/>
            <a:ext cx="3291840" cy="292608"/>
          </a:xfrm>
          <a:prstGeom prst="rect">
            <a:avLst/>
          </a:prstGeom>
          <a:noFill/>
          <a:ln/>
        </p:spPr>
        <p:txBody>
          <a:bodyPr wrap="square" lIns="0" tIns="0" rIns="0" bIns="0" rtlCol="0" anchor="ctr"/>
          <a:lstStyle/>
          <a:p>
            <a:pPr indent="0" marL="0">
              <a:buNone/>
            </a:pPr>
            <a:r>
              <a:rPr lang="en-US" sz="1100" b="1" spc="200" kern="0" dirty="0">
                <a:solidFill>
                  <a:srgbClr val="1B6B7A"/>
                </a:solidFill>
                <a:latin typeface="Calibri" pitchFamily="34" charset="0"/>
                <a:ea typeface="Calibri" pitchFamily="34" charset="-122"/>
                <a:cs typeface="Calibri" pitchFamily="34" charset="-120"/>
              </a:rPr>
              <a:t>TALLER</a:t>
            </a:r>
            <a:endParaRPr lang="en-US" sz="1100" dirty="0"/>
          </a:p>
        </p:txBody>
      </p:sp>
      <p:sp>
        <p:nvSpPr>
          <p:cNvPr id="4" name="Shape 2"/>
          <p:cNvSpPr/>
          <p:nvPr/>
        </p:nvSpPr>
        <p:spPr>
          <a:xfrm>
            <a:off x="5579669" y="329184"/>
            <a:ext cx="526694" cy="256032"/>
          </a:xfrm>
          <a:prstGeom prst="roundRect">
            <a:avLst>
              <a:gd name="adj" fmla="val 50000"/>
            </a:avLst>
          </a:prstGeom>
          <a:solidFill>
            <a:srgbClr val="EEF3F5"/>
          </a:solidFill>
          <a:ln/>
        </p:spPr>
      </p:sp>
      <p:sp>
        <p:nvSpPr>
          <p:cNvPr id="5" name="Text 3"/>
          <p:cNvSpPr/>
          <p:nvPr/>
        </p:nvSpPr>
        <p:spPr>
          <a:xfrm>
            <a:off x="5579669"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Diseño</a:t>
            </a:r>
            <a:endParaRPr lang="en-US" sz="850" dirty="0"/>
          </a:p>
        </p:txBody>
      </p:sp>
      <p:sp>
        <p:nvSpPr>
          <p:cNvPr id="6" name="Shape 4"/>
          <p:cNvSpPr/>
          <p:nvPr/>
        </p:nvSpPr>
        <p:spPr>
          <a:xfrm>
            <a:off x="6142939" y="329184"/>
            <a:ext cx="888797" cy="256032"/>
          </a:xfrm>
          <a:prstGeom prst="roundRect">
            <a:avLst>
              <a:gd name="adj" fmla="val 50000"/>
            </a:avLst>
          </a:prstGeom>
          <a:solidFill>
            <a:srgbClr val="EEF3F5"/>
          </a:solidFill>
          <a:ln/>
        </p:spPr>
      </p:sp>
      <p:sp>
        <p:nvSpPr>
          <p:cNvPr id="7" name="Text 5"/>
          <p:cNvSpPr/>
          <p:nvPr/>
        </p:nvSpPr>
        <p:spPr>
          <a:xfrm>
            <a:off x="6142939" y="329184"/>
            <a:ext cx="88879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1 Inventario</a:t>
            </a:r>
            <a:endParaRPr lang="en-US" sz="850" dirty="0"/>
          </a:p>
        </p:txBody>
      </p:sp>
      <p:sp>
        <p:nvSpPr>
          <p:cNvPr id="8" name="Shape 6"/>
          <p:cNvSpPr/>
          <p:nvPr/>
        </p:nvSpPr>
        <p:spPr>
          <a:xfrm>
            <a:off x="7068312" y="329184"/>
            <a:ext cx="1009498" cy="256032"/>
          </a:xfrm>
          <a:prstGeom prst="roundRect">
            <a:avLst>
              <a:gd name="adj" fmla="val 50000"/>
            </a:avLst>
          </a:prstGeom>
          <a:solidFill>
            <a:srgbClr val="EEF3F5"/>
          </a:solidFill>
          <a:ln/>
        </p:spPr>
      </p:sp>
      <p:sp>
        <p:nvSpPr>
          <p:cNvPr id="9" name="Text 7"/>
          <p:cNvSpPr/>
          <p:nvPr/>
        </p:nvSpPr>
        <p:spPr>
          <a:xfrm>
            <a:off x="7068312" y="329184"/>
            <a:ext cx="1009498"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2 Localización</a:t>
            </a:r>
            <a:endParaRPr lang="en-US" sz="850" dirty="0"/>
          </a:p>
        </p:txBody>
      </p:sp>
      <p:sp>
        <p:nvSpPr>
          <p:cNvPr id="10" name="Shape 8"/>
          <p:cNvSpPr/>
          <p:nvPr/>
        </p:nvSpPr>
        <p:spPr>
          <a:xfrm>
            <a:off x="8114386" y="329184"/>
            <a:ext cx="647395" cy="256032"/>
          </a:xfrm>
          <a:prstGeom prst="roundRect">
            <a:avLst>
              <a:gd name="adj" fmla="val 50000"/>
            </a:avLst>
          </a:prstGeom>
          <a:solidFill>
            <a:srgbClr val="EEF3F5"/>
          </a:solidFill>
          <a:ln/>
        </p:spPr>
      </p:sp>
      <p:sp>
        <p:nvSpPr>
          <p:cNvPr id="11" name="Text 9"/>
          <p:cNvSpPr/>
          <p:nvPr/>
        </p:nvSpPr>
        <p:spPr>
          <a:xfrm>
            <a:off x="8114386"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3 Aduana</a:t>
            </a:r>
            <a:endParaRPr lang="en-US" sz="850" dirty="0"/>
          </a:p>
        </p:txBody>
      </p:sp>
      <p:sp>
        <p:nvSpPr>
          <p:cNvPr id="12" name="Shape 10"/>
          <p:cNvSpPr/>
          <p:nvPr/>
        </p:nvSpPr>
        <p:spPr>
          <a:xfrm>
            <a:off x="8798357" y="329184"/>
            <a:ext cx="647395" cy="256032"/>
          </a:xfrm>
          <a:prstGeom prst="roundRect">
            <a:avLst>
              <a:gd name="adj" fmla="val 50000"/>
            </a:avLst>
          </a:prstGeom>
          <a:solidFill>
            <a:srgbClr val="EEF3F5"/>
          </a:solidFill>
          <a:ln/>
        </p:spPr>
      </p:sp>
      <p:sp>
        <p:nvSpPr>
          <p:cNvPr id="13" name="Text 11"/>
          <p:cNvSpPr/>
          <p:nvPr/>
        </p:nvSpPr>
        <p:spPr>
          <a:xfrm>
            <a:off x="8798357" y="329184"/>
            <a:ext cx="647395"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4 Espejo</a:t>
            </a:r>
            <a:endParaRPr lang="en-US" sz="850" dirty="0"/>
          </a:p>
        </p:txBody>
      </p:sp>
      <p:sp>
        <p:nvSpPr>
          <p:cNvPr id="14" name="Shape 12"/>
          <p:cNvSpPr/>
          <p:nvPr/>
        </p:nvSpPr>
        <p:spPr>
          <a:xfrm>
            <a:off x="9482328" y="329184"/>
            <a:ext cx="949147" cy="256032"/>
          </a:xfrm>
          <a:prstGeom prst="roundRect">
            <a:avLst>
              <a:gd name="adj" fmla="val 50000"/>
            </a:avLst>
          </a:prstGeom>
          <a:solidFill>
            <a:srgbClr val="EEF3F5"/>
          </a:solidFill>
          <a:ln/>
        </p:spPr>
      </p:sp>
      <p:sp>
        <p:nvSpPr>
          <p:cNvPr id="15" name="Text 13"/>
          <p:cNvSpPr/>
          <p:nvPr/>
        </p:nvSpPr>
        <p:spPr>
          <a:xfrm>
            <a:off x="9482328" y="329184"/>
            <a:ext cx="949147"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5 MW → equipo</a:t>
            </a:r>
            <a:endParaRPr lang="en-US" sz="850" dirty="0"/>
          </a:p>
        </p:txBody>
      </p:sp>
      <p:sp>
        <p:nvSpPr>
          <p:cNvPr id="16" name="Shape 14"/>
          <p:cNvSpPr/>
          <p:nvPr/>
        </p:nvSpPr>
        <p:spPr>
          <a:xfrm>
            <a:off x="10468051" y="329184"/>
            <a:ext cx="526694" cy="256032"/>
          </a:xfrm>
          <a:prstGeom prst="roundRect">
            <a:avLst>
              <a:gd name="adj" fmla="val 50000"/>
            </a:avLst>
          </a:prstGeom>
          <a:solidFill>
            <a:srgbClr val="EEF3F5"/>
          </a:solidFill>
          <a:ln/>
        </p:spPr>
      </p:sp>
      <p:sp>
        <p:nvSpPr>
          <p:cNvPr id="17" name="Text 15"/>
          <p:cNvSpPr/>
          <p:nvPr/>
        </p:nvSpPr>
        <p:spPr>
          <a:xfrm>
            <a:off x="10468051" y="329184"/>
            <a:ext cx="526694" cy="256032"/>
          </a:xfrm>
          <a:prstGeom prst="rect">
            <a:avLst/>
          </a:prstGeom>
          <a:noFill/>
          <a:ln/>
        </p:spPr>
        <p:txBody>
          <a:bodyPr wrap="square" lIns="0" tIns="0" rIns="0" bIns="0" rtlCol="0" anchor="ctr"/>
          <a:lstStyle/>
          <a:p>
            <a:pPr algn="ctr" indent="0" marL="0">
              <a:buNone/>
            </a:pPr>
            <a:r>
              <a:rPr lang="en-US" sz="850" dirty="0">
                <a:solidFill>
                  <a:srgbClr val="5B6B7A"/>
                </a:solidFill>
                <a:latin typeface="Calibri" pitchFamily="34" charset="0"/>
                <a:ea typeface="Calibri" pitchFamily="34" charset="-122"/>
                <a:cs typeface="Calibri" pitchFamily="34" charset="-120"/>
              </a:rPr>
              <a:t>6 RAEE</a:t>
            </a:r>
            <a:endParaRPr lang="en-US" sz="850" dirty="0"/>
          </a:p>
        </p:txBody>
      </p:sp>
      <p:sp>
        <p:nvSpPr>
          <p:cNvPr id="18" name="Shape 16"/>
          <p:cNvSpPr/>
          <p:nvPr/>
        </p:nvSpPr>
        <p:spPr>
          <a:xfrm>
            <a:off x="11031322" y="329184"/>
            <a:ext cx="526694" cy="256032"/>
          </a:xfrm>
          <a:prstGeom prst="roundRect">
            <a:avLst>
              <a:gd name="adj" fmla="val 50000"/>
            </a:avLst>
          </a:prstGeom>
          <a:solidFill>
            <a:srgbClr val="1B6B7A"/>
          </a:solidFill>
          <a:ln/>
        </p:spPr>
      </p:sp>
      <p:sp>
        <p:nvSpPr>
          <p:cNvPr id="19" name="Text 17"/>
          <p:cNvSpPr/>
          <p:nvPr/>
        </p:nvSpPr>
        <p:spPr>
          <a:xfrm>
            <a:off x="11031322" y="329184"/>
            <a:ext cx="526694"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Taller</a:t>
            </a:r>
            <a:endParaRPr lang="en-US" sz="850" dirty="0"/>
          </a:p>
        </p:txBody>
      </p:sp>
      <p:sp>
        <p:nvSpPr>
          <p:cNvPr id="20" name="Text 18"/>
          <p:cNvSpPr/>
          <p:nvPr/>
        </p:nvSpPr>
        <p:spPr>
          <a:xfrm>
            <a:off x="566928" y="713232"/>
            <a:ext cx="11027664" cy="566928"/>
          </a:xfrm>
          <a:prstGeom prst="rect">
            <a:avLst/>
          </a:prstGeom>
          <a:noFill/>
          <a:ln/>
        </p:spPr>
        <p:txBody>
          <a:bodyPr wrap="square" lIns="0" tIns="0" rIns="0" bIns="0" rtlCol="0" anchor="t"/>
          <a:lstStyle/>
          <a:p>
            <a:pPr indent="0" marL="0">
              <a:buNone/>
            </a:pPr>
            <a:r>
              <a:rPr lang="en-US" sz="2300" b="1" dirty="0">
                <a:solidFill>
                  <a:srgbClr val="1E293B"/>
                </a:solidFill>
                <a:latin typeface="Cambria" pitchFamily="34" charset="0"/>
                <a:ea typeface="Cambria" pitchFamily="34" charset="-122"/>
                <a:cs typeface="Cambria" pitchFamily="34" charset="-120"/>
              </a:rPr>
              <a:t>Del repositorio a los primeros datos de su país</a:t>
            </a:r>
            <a:endParaRPr lang="en-US" sz="2300" dirty="0"/>
          </a:p>
        </p:txBody>
      </p:sp>
      <p:sp>
        <p:nvSpPr>
          <p:cNvPr id="21" name="Text 19"/>
          <p:cNvSpPr/>
          <p:nvPr/>
        </p:nvSpPr>
        <p:spPr>
          <a:xfrm>
            <a:off x="11338560" y="6446520"/>
            <a:ext cx="457200" cy="256032"/>
          </a:xfrm>
          <a:prstGeom prst="rect">
            <a:avLst/>
          </a:prstGeom>
          <a:noFill/>
          <a:ln/>
        </p:spPr>
        <p:txBody>
          <a:bodyPr wrap="square" lIns="0" tIns="0" rIns="0" bIns="0" rtlCol="0" anchor="ctr"/>
          <a:lstStyle/>
          <a:p>
            <a:pPr algn="r" indent="0" marL="0">
              <a:buNone/>
            </a:pPr>
            <a:r>
              <a:rPr lang="en-US" sz="950" dirty="0">
                <a:solidFill>
                  <a:srgbClr val="5B6B7A"/>
                </a:solidFill>
                <a:latin typeface="Calibri" pitchFamily="34" charset="0"/>
                <a:ea typeface="Calibri" pitchFamily="34" charset="-122"/>
                <a:cs typeface="Calibri" pitchFamily="34" charset="-120"/>
              </a:rPr>
              <a:t>19</a:t>
            </a:r>
            <a:endParaRPr lang="en-US" sz="950" dirty="0"/>
          </a:p>
        </p:txBody>
      </p:sp>
      <p:sp>
        <p:nvSpPr>
          <p:cNvPr id="22" name="Text 20"/>
          <p:cNvSpPr/>
          <p:nvPr/>
        </p:nvSpPr>
        <p:spPr>
          <a:xfrm>
            <a:off x="566928" y="6446520"/>
            <a:ext cx="7315200" cy="256032"/>
          </a:xfrm>
          <a:prstGeom prst="rect">
            <a:avLst/>
          </a:prstGeom>
          <a:noFill/>
          <a:ln/>
        </p:spPr>
        <p:txBody>
          <a:bodyPr wrap="square" lIns="0" tIns="0" rIns="0" bIns="0" rtlCol="0" anchor="ctr"/>
          <a:lstStyle/>
          <a:p>
            <a:pPr indent="0" marL="0">
              <a:buNone/>
            </a:pPr>
            <a:r>
              <a:rPr lang="en-US" sz="950" dirty="0">
                <a:solidFill>
                  <a:srgbClr val="5B6B7A"/>
                </a:solidFill>
                <a:latin typeface="Calibri" pitchFamily="34" charset="0"/>
                <a:ea typeface="Calibri" pitchFamily="34" charset="-122"/>
                <a:cs typeface="Calibri" pitchFamily="34" charset="-120"/>
              </a:rPr>
              <a:t>CIRTECAL · Clase de método · github.com/gbreard/cirtecal-dc-kit</a:t>
            </a:r>
            <a:endParaRPr lang="en-US" sz="950" dirty="0"/>
          </a:p>
        </p:txBody>
      </p:sp>
      <p:sp>
        <p:nvSpPr>
          <p:cNvPr id="24" name="Shape 21"/>
          <p:cNvSpPr/>
          <p:nvPr/>
        </p:nvSpPr>
        <p:spPr>
          <a:xfrm>
            <a:off x="566928" y="1554480"/>
            <a:ext cx="5760720" cy="1371600"/>
          </a:xfrm>
          <a:prstGeom prst="rect">
            <a:avLst/>
          </a:prstGeom>
          <a:solidFill>
            <a:srgbClr val="1E2A3A"/>
          </a:solidFill>
          <a:ln/>
        </p:spPr>
      </p:sp>
      <p:sp>
        <p:nvSpPr>
          <p:cNvPr id="25" name="Text 22"/>
          <p:cNvSpPr/>
          <p:nvPr/>
        </p:nvSpPr>
        <p:spPr>
          <a:xfrm>
            <a:off x="749808" y="1554480"/>
            <a:ext cx="5394960" cy="1371600"/>
          </a:xfrm>
          <a:prstGeom prst="rect">
            <a:avLst/>
          </a:prstGeom>
          <a:noFill/>
          <a:ln/>
        </p:spPr>
        <p:txBody>
          <a:bodyPr wrap="square" lIns="0" tIns="0" rIns="0" bIns="0" rtlCol="0" anchor="ctr"/>
          <a:lstStyle/>
          <a:p>
            <a:pPr indent="0" marL="0">
              <a:buNone/>
            </a:pPr>
            <a:r>
              <a:rPr lang="en-US" sz="1100" dirty="0">
                <a:solidFill>
                  <a:srgbClr val="D7E3E8"/>
                </a:solidFill>
                <a:latin typeface="Consolas" pitchFamily="34" charset="0"/>
                <a:ea typeface="Consolas" pitchFamily="34" charset="-122"/>
                <a:cs typeface="Consolas" pitchFamily="34" charset="-120"/>
              </a:rPr>
              <a:t>git clone https://github.com/gbreard/cirtecal-dc-kit</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cd cirtecal-dc-kit</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pip install -r requirements.txt</a:t>
            </a:r>
            <a:endParaRPr lang="en-US" sz="1100" dirty="0"/>
          </a:p>
          <a:p>
            <a:pPr indent="0" marL="0">
              <a:buNone/>
            </a:pPr>
            <a:r>
              <a:rPr lang="en-US" sz="1100" dirty="0">
                <a:solidFill>
                  <a:srgbClr val="D7E3E8"/>
                </a:solidFill>
                <a:latin typeface="Consolas" pitchFamily="34" charset="0"/>
                <a:ea typeface="Consolas" pitchFamily="34" charset="-122"/>
                <a:cs typeface="Consolas" pitchFamily="34" charset="-120"/>
              </a:rPr>
              <a:t>python -m pytest -q tests</a:t>
            </a:r>
            <a:endParaRPr lang="en-US" sz="1100" dirty="0"/>
          </a:p>
        </p:txBody>
      </p:sp>
      <p:sp>
        <p:nvSpPr>
          <p:cNvPr id="26" name="Text 23"/>
          <p:cNvSpPr/>
          <p:nvPr/>
        </p:nvSpPr>
        <p:spPr>
          <a:xfrm>
            <a:off x="566928" y="3017520"/>
            <a:ext cx="5760720" cy="548640"/>
          </a:xfrm>
          <a:prstGeom prst="rect">
            <a:avLst/>
          </a:prstGeom>
          <a:noFill/>
          <a:ln/>
        </p:spPr>
        <p:txBody>
          <a:bodyPr wrap="square" lIns="0" tIns="0" rIns="0" bIns="0" rtlCol="0" anchor="ctr"/>
          <a:lstStyle/>
          <a:p>
            <a:pPr indent="0" marL="0">
              <a:buNone/>
            </a:pPr>
            <a:r>
              <a:rPr lang="en-US" sz="1200" i="1" dirty="0">
                <a:solidFill>
                  <a:srgbClr val="5B6B7A"/>
                </a:solidFill>
                <a:latin typeface="Calibri" pitchFamily="34" charset="0"/>
                <a:ea typeface="Calibri" pitchFamily="34" charset="-122"/>
                <a:cs typeface="Calibri" pitchFamily="34" charset="-120"/>
              </a:rPr>
              <a:t>Primero, que funcione: los tests corren el ejemplo argentino y reproducen las cifras publicadas.</a:t>
            </a:r>
            <a:endParaRPr lang="en-US" sz="1200" dirty="0"/>
          </a:p>
        </p:txBody>
      </p:sp>
      <p:sp>
        <p:nvSpPr>
          <p:cNvPr id="27" name="Text 24"/>
          <p:cNvSpPr/>
          <p:nvPr/>
        </p:nvSpPr>
        <p:spPr>
          <a:xfrm>
            <a:off x="6693408" y="1508760"/>
            <a:ext cx="4901184" cy="365760"/>
          </a:xfrm>
          <a:prstGeom prst="rect">
            <a:avLst/>
          </a:prstGeom>
          <a:noFill/>
          <a:ln/>
        </p:spPr>
        <p:txBody>
          <a:bodyPr wrap="square" lIns="0" tIns="0" rIns="0" bIns="0" rtlCol="0" anchor="ctr"/>
          <a:lstStyle/>
          <a:p>
            <a:pPr indent="0" marL="0">
              <a:buNone/>
            </a:pPr>
            <a:r>
              <a:rPr lang="en-US" sz="1500" b="1" dirty="0">
                <a:solidFill>
                  <a:srgbClr val="1B6B7A"/>
                </a:solidFill>
                <a:latin typeface="Cambria" pitchFamily="34" charset="0"/>
                <a:ea typeface="Cambria" pitchFamily="34" charset="-122"/>
                <a:cs typeface="Cambria" pitchFamily="34" charset="-120"/>
              </a:rPr>
              <a:t>En la sesión</a:t>
            </a:r>
            <a:endParaRPr lang="en-US" sz="1500" dirty="0"/>
          </a:p>
        </p:txBody>
      </p:sp>
      <p:sp>
        <p:nvSpPr>
          <p:cNvPr id="28" name="Shape 25"/>
          <p:cNvSpPr/>
          <p:nvPr/>
        </p:nvSpPr>
        <p:spPr>
          <a:xfrm>
            <a:off x="6693408" y="1965960"/>
            <a:ext cx="347472" cy="347472"/>
          </a:xfrm>
          <a:prstGeom prst="ellipse">
            <a:avLst/>
          </a:prstGeom>
          <a:solidFill>
            <a:srgbClr val="2A9D8F"/>
          </a:solidFill>
          <a:ln/>
        </p:spPr>
      </p:sp>
      <p:sp>
        <p:nvSpPr>
          <p:cNvPr id="29" name="Text 26"/>
          <p:cNvSpPr/>
          <p:nvPr/>
        </p:nvSpPr>
        <p:spPr>
          <a:xfrm>
            <a:off x="6693408" y="19659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30" name="Text 27"/>
          <p:cNvSpPr/>
          <p:nvPr/>
        </p:nvSpPr>
        <p:spPr>
          <a:xfrm>
            <a:off x="7168896" y="1911096"/>
            <a:ext cx="4425696" cy="685800"/>
          </a:xfrm>
          <a:prstGeom prst="rect">
            <a:avLst/>
          </a:prstGeom>
          <a:noFill/>
          <a:ln/>
        </p:spPr>
        <p:txBody>
          <a:bodyPr wrap="square" lIns="0" tIns="0" rIns="0" bIns="0" rtlCol="0" anchor="t"/>
          <a:lstStyle/>
          <a:p>
            <a:pPr indent="0" marL="0">
              <a:lnSpc>
                <a:spcPct val="108000"/>
              </a:lnSpc>
              <a:buNone/>
            </a:pPr>
            <a:r>
              <a:rPr lang="en-US" sz="1250" dirty="0">
                <a:solidFill>
                  <a:srgbClr val="1E293B"/>
                </a:solidFill>
                <a:latin typeface="Calibri" pitchFamily="34" charset="0"/>
                <a:ea typeface="Calibri" pitchFamily="34" charset="-122"/>
                <a:cs typeface="Calibri" pitchFamily="34" charset="-120"/>
              </a:rPr>
              <a:t>Completar config/pais.yaml: fuente aduanera, años, nodo de intercambio y amarres</a:t>
            </a:r>
            <a:endParaRPr lang="en-US" sz="1250" dirty="0"/>
          </a:p>
        </p:txBody>
      </p:sp>
      <p:sp>
        <p:nvSpPr>
          <p:cNvPr id="31" name="Shape 28"/>
          <p:cNvSpPr/>
          <p:nvPr/>
        </p:nvSpPr>
        <p:spPr>
          <a:xfrm>
            <a:off x="6693408" y="2651760"/>
            <a:ext cx="347472" cy="347472"/>
          </a:xfrm>
          <a:prstGeom prst="ellipse">
            <a:avLst/>
          </a:prstGeom>
          <a:solidFill>
            <a:srgbClr val="2A9D8F"/>
          </a:solidFill>
          <a:ln/>
        </p:spPr>
      </p:sp>
      <p:sp>
        <p:nvSpPr>
          <p:cNvPr id="32" name="Text 29"/>
          <p:cNvSpPr/>
          <p:nvPr/>
        </p:nvSpPr>
        <p:spPr>
          <a:xfrm>
            <a:off x="6693408" y="26517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33" name="Text 30"/>
          <p:cNvSpPr/>
          <p:nvPr/>
        </p:nvSpPr>
        <p:spPr>
          <a:xfrm>
            <a:off x="7168896" y="2596896"/>
            <a:ext cx="4425696" cy="685800"/>
          </a:xfrm>
          <a:prstGeom prst="rect">
            <a:avLst/>
          </a:prstGeom>
          <a:noFill/>
          <a:ln/>
        </p:spPr>
        <p:txBody>
          <a:bodyPr wrap="square" lIns="0" tIns="0" rIns="0" bIns="0" rtlCol="0" anchor="t"/>
          <a:lstStyle/>
          <a:p>
            <a:pPr indent="0" marL="0">
              <a:lnSpc>
                <a:spcPct val="108000"/>
              </a:lnSpc>
              <a:buNone/>
            </a:pPr>
            <a:r>
              <a:rPr lang="en-US" sz="1250" dirty="0">
                <a:solidFill>
                  <a:srgbClr val="1E293B"/>
                </a:solidFill>
                <a:latin typeface="Calibri" pitchFamily="34" charset="0"/>
                <a:ea typeface="Calibri" pitchFamily="34" charset="-122"/>
                <a:cs typeface="Calibri" pitchFamily="34" charset="-120"/>
              </a:rPr>
              <a:t>Inventario semilla: diez registros con fuente primaria, en plantillas/inventario.csv</a:t>
            </a:r>
            <a:endParaRPr lang="en-US" sz="1250" dirty="0"/>
          </a:p>
        </p:txBody>
      </p:sp>
      <p:sp>
        <p:nvSpPr>
          <p:cNvPr id="34" name="Shape 31"/>
          <p:cNvSpPr/>
          <p:nvPr/>
        </p:nvSpPr>
        <p:spPr>
          <a:xfrm>
            <a:off x="6693408" y="3337560"/>
            <a:ext cx="347472" cy="347472"/>
          </a:xfrm>
          <a:prstGeom prst="ellipse">
            <a:avLst/>
          </a:prstGeom>
          <a:solidFill>
            <a:srgbClr val="2A9D8F"/>
          </a:solidFill>
          <a:ln/>
        </p:spPr>
      </p:sp>
      <p:sp>
        <p:nvSpPr>
          <p:cNvPr id="35" name="Text 32"/>
          <p:cNvSpPr/>
          <p:nvPr/>
        </p:nvSpPr>
        <p:spPr>
          <a:xfrm>
            <a:off x="6693408" y="33375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36" name="Text 33"/>
          <p:cNvSpPr/>
          <p:nvPr/>
        </p:nvSpPr>
        <p:spPr>
          <a:xfrm>
            <a:off x="7168896" y="3282696"/>
            <a:ext cx="4425696" cy="685800"/>
          </a:xfrm>
          <a:prstGeom prst="rect">
            <a:avLst/>
          </a:prstGeom>
          <a:noFill/>
          <a:ln/>
        </p:spPr>
        <p:txBody>
          <a:bodyPr wrap="square" lIns="0" tIns="0" rIns="0" bIns="0" rtlCol="0" anchor="t"/>
          <a:lstStyle/>
          <a:p>
            <a:pPr indent="0" marL="0">
              <a:lnSpc>
                <a:spcPct val="108000"/>
              </a:lnSpc>
              <a:buNone/>
            </a:pPr>
            <a:r>
              <a:rPr lang="en-US" sz="1250" dirty="0">
                <a:solidFill>
                  <a:srgbClr val="1E293B"/>
                </a:solidFill>
                <a:latin typeface="Calibri" pitchFamily="34" charset="0"/>
                <a:ea typeface="Calibri" pitchFamily="34" charset="-122"/>
                <a:cs typeface="Calibri" pitchFamily="34" charset="-120"/>
              </a:rPr>
              <a:t>Abrir la canasta común a la nomenclatura nacional y declarar los empalmes</a:t>
            </a:r>
            <a:endParaRPr lang="en-US" sz="1250" dirty="0"/>
          </a:p>
        </p:txBody>
      </p:sp>
      <p:sp>
        <p:nvSpPr>
          <p:cNvPr id="37" name="Shape 34"/>
          <p:cNvSpPr/>
          <p:nvPr/>
        </p:nvSpPr>
        <p:spPr>
          <a:xfrm>
            <a:off x="6693408" y="4023360"/>
            <a:ext cx="347472" cy="347472"/>
          </a:xfrm>
          <a:prstGeom prst="ellipse">
            <a:avLst/>
          </a:prstGeom>
          <a:solidFill>
            <a:srgbClr val="2A9D8F"/>
          </a:solidFill>
          <a:ln/>
        </p:spPr>
      </p:sp>
      <p:sp>
        <p:nvSpPr>
          <p:cNvPr id="38" name="Text 35"/>
          <p:cNvSpPr/>
          <p:nvPr/>
        </p:nvSpPr>
        <p:spPr>
          <a:xfrm>
            <a:off x="6693408" y="4023360"/>
            <a:ext cx="347472" cy="347472"/>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39" name="Text 36"/>
          <p:cNvSpPr/>
          <p:nvPr/>
        </p:nvSpPr>
        <p:spPr>
          <a:xfrm>
            <a:off x="7168896" y="3968496"/>
            <a:ext cx="4425696" cy="685800"/>
          </a:xfrm>
          <a:prstGeom prst="rect">
            <a:avLst/>
          </a:prstGeom>
          <a:noFill/>
          <a:ln/>
        </p:spPr>
        <p:txBody>
          <a:bodyPr wrap="square" lIns="0" tIns="0" rIns="0" bIns="0" rtlCol="0" anchor="t"/>
          <a:lstStyle/>
          <a:p>
            <a:pPr indent="0" marL="0">
              <a:lnSpc>
                <a:spcPct val="108000"/>
              </a:lnSpc>
              <a:buNone/>
            </a:pPr>
            <a:r>
              <a:rPr lang="en-US" sz="1250" dirty="0">
                <a:solidFill>
                  <a:srgbClr val="1E293B"/>
                </a:solidFill>
                <a:latin typeface="Calibri" pitchFamily="34" charset="0"/>
                <a:ea typeface="Calibri" pitchFamily="34" charset="-122"/>
                <a:cs typeface="Calibri" pitchFamily="34" charset="-120"/>
              </a:rPr>
              <a:t>Correr kit.inventario y kit.aduana con los primeros datos</a:t>
            </a:r>
            <a:endParaRPr lang="en-US" sz="1250" dirty="0"/>
          </a:p>
        </p:txBody>
      </p:sp>
      <p:sp>
        <p:nvSpPr>
          <p:cNvPr id="40" name="Shape 37"/>
          <p:cNvSpPr/>
          <p:nvPr/>
        </p:nvSpPr>
        <p:spPr>
          <a:xfrm>
            <a:off x="566928" y="4937760"/>
            <a:ext cx="11027664" cy="1234440"/>
          </a:xfrm>
          <a:prstGeom prst="roundRect">
            <a:avLst>
              <a:gd name="adj" fmla="val 4444"/>
            </a:avLst>
          </a:prstGeom>
          <a:solidFill>
            <a:srgbClr val="14213D"/>
          </a:solidFill>
          <a:ln/>
        </p:spPr>
      </p:sp>
      <p:sp>
        <p:nvSpPr>
          <p:cNvPr id="41" name="Text 38"/>
          <p:cNvSpPr/>
          <p:nvPr/>
        </p:nvSpPr>
        <p:spPr>
          <a:xfrm>
            <a:off x="886968" y="4937760"/>
            <a:ext cx="10387584" cy="1234440"/>
          </a:xfrm>
          <a:prstGeom prst="rect">
            <a:avLst/>
          </a:prstGeom>
          <a:noFill/>
          <a:ln/>
        </p:spPr>
        <p:txBody>
          <a:bodyPr wrap="square" lIns="0" tIns="0" rIns="0" bIns="0" rtlCol="0" anchor="ctr"/>
          <a:lstStyle/>
          <a:p>
            <a:pPr indent="0" marL="0">
              <a:lnSpc>
                <a:spcPct val="110000"/>
              </a:lnSpc>
              <a:buNone/>
            </a:pPr>
            <a:r>
              <a:rPr lang="en-US" sz="1300" b="1" dirty="0">
                <a:solidFill>
                  <a:srgbClr val="2A9D8F"/>
                </a:solidFill>
                <a:latin typeface="Calibri" pitchFamily="34" charset="0"/>
                <a:ea typeface="Calibri" pitchFamily="34" charset="-122"/>
                <a:cs typeface="Calibri" pitchFamily="34" charset="-120"/>
              </a:rPr>
              <a:t>Para la próxima reunión:  </a:t>
            </a:r>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cada equipo trae su inventario semilla validado y la primera serie aduanera, con la lista de códigos vacíos que marque el control. Las dudas y los errores del kit se cargan como issues en el repositorio.</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66928" y="182880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Medir lo que el dato público no muestra</a:t>
            </a:r>
            <a:endParaRPr lang="en-US" sz="3200" dirty="0"/>
          </a:p>
        </p:txBody>
      </p:sp>
      <p:sp>
        <p:nvSpPr>
          <p:cNvPr id="3" name="Text 1"/>
          <p:cNvSpPr/>
          <p:nvPr/>
        </p:nvSpPr>
        <p:spPr>
          <a:xfrm>
            <a:off x="566928" y="2743200"/>
            <a:ext cx="10972800" cy="548640"/>
          </a:xfrm>
          <a:prstGeom prst="rect">
            <a:avLst/>
          </a:prstGeom>
          <a:noFill/>
          <a:ln/>
        </p:spPr>
        <p:txBody>
          <a:bodyPr wrap="square" lIns="0" tIns="0" rIns="0" bIns="0" rtlCol="0" anchor="ctr"/>
          <a:lstStyle/>
          <a:p>
            <a:pPr indent="0" marL="0">
              <a:buNone/>
            </a:pPr>
            <a:r>
              <a:rPr lang="en-US" sz="1800" i="1" dirty="0">
                <a:solidFill>
                  <a:srgbClr val="C3D3DA"/>
                </a:solidFill>
                <a:latin typeface="Cambria" pitchFamily="34" charset="0"/>
                <a:ea typeface="Cambria" pitchFamily="34" charset="-122"/>
                <a:cs typeface="Cambria" pitchFamily="34" charset="-120"/>
              </a:rPr>
              <a:t>La opacidad del sector no es una limitación del estudio: es uno de sus resultados.</a:t>
            </a:r>
            <a:endParaRPr lang="en-US" sz="1800" dirty="0"/>
          </a:p>
        </p:txBody>
      </p:sp>
      <p:sp>
        <p:nvSpPr>
          <p:cNvPr id="4" name="Text 2"/>
          <p:cNvSpPr/>
          <p:nvPr/>
        </p:nvSpPr>
        <p:spPr>
          <a:xfrm>
            <a:off x="566928" y="4023360"/>
            <a:ext cx="10972800" cy="1371600"/>
          </a:xfrm>
          <a:prstGeom prst="rect">
            <a:avLst/>
          </a:prstGeom>
          <a:noFill/>
          <a:ln/>
        </p:spPr>
        <p:txBody>
          <a:bodyPr wrap="square" lIns="0" tIns="0" rIns="0" bIns="0" rtlCol="0" anchor="t"/>
          <a:lstStyle/>
          <a:p>
            <a:pPr indent="0" marL="0">
              <a:lnSpc>
                <a:spcPct val="140000"/>
              </a:lnSpc>
              <a:buNone/>
            </a:pPr>
            <a:r>
              <a:rPr lang="en-US" sz="1500" b="1" dirty="0">
                <a:solidFill>
                  <a:srgbClr val="2A9D8F"/>
                </a:solidFill>
                <a:latin typeface="Calibri" pitchFamily="34" charset="0"/>
                <a:ea typeface="Calibri" pitchFamily="34" charset="-122"/>
                <a:cs typeface="Calibri" pitchFamily="34" charset="-120"/>
              </a:rPr>
              <a:t>Repositorio  </a:t>
            </a:r>
            <a:pPr indent="0" marL="0">
              <a:lnSpc>
                <a:spcPct val="140000"/>
              </a:lnSpc>
              <a:buNone/>
            </a:pPr>
            <a:r>
              <a:rPr lang="en-US" sz="1500" dirty="0">
                <a:solidFill>
                  <a:srgbClr val="FFFFFF"/>
                </a:solidFill>
                <a:latin typeface="Calibri" pitchFamily="34" charset="0"/>
                <a:ea typeface="Calibri" pitchFamily="34" charset="-122"/>
                <a:cs typeface="Calibri" pitchFamily="34" charset="-120"/>
              </a:rPr>
              <a:t>github.com/gbreard/cirtecal-dc-kit</a:t>
            </a:r>
            <a:pPr indent="0" marL="0">
              <a:lnSpc>
                <a:spcPct val="140000"/>
              </a:lnSpc>
              <a:buNone/>
            </a:pPr>
            <a:endParaRPr lang="en-US" sz="1500" dirty="0"/>
          </a:p>
          <a:p>
            <a:pPr indent="0" marL="0">
              <a:lnSpc>
                <a:spcPct val="140000"/>
              </a:lnSpc>
              <a:buNone/>
            </a:pPr>
            <a:r>
              <a:rPr lang="en-US" sz="1500" b="1" dirty="0">
                <a:solidFill>
                  <a:srgbClr val="2A9D8F"/>
                </a:solidFill>
                <a:latin typeface="Calibri" pitchFamily="34" charset="0"/>
                <a:ea typeface="Calibri" pitchFamily="34" charset="-122"/>
                <a:cs typeface="Calibri" pitchFamily="34" charset="-120"/>
              </a:rPr>
              <a:t>Fichas de método  </a:t>
            </a:r>
            <a:pPr indent="0" marL="0">
              <a:lnSpc>
                <a:spcPct val="140000"/>
              </a:lnSpc>
              <a:buNone/>
            </a:pPr>
            <a:r>
              <a:rPr lang="en-US" sz="1500" dirty="0">
                <a:solidFill>
                  <a:srgbClr val="FFFFFF"/>
                </a:solidFill>
                <a:latin typeface="Calibri" pitchFamily="34" charset="0"/>
                <a:ea typeface="Calibri" pitchFamily="34" charset="-122"/>
                <a:cs typeface="Calibri" pitchFamily="34" charset="-120"/>
              </a:rPr>
              <a:t>docs/README.md</a:t>
            </a:r>
            <a:pPr indent="0" marL="0">
              <a:lnSpc>
                <a:spcPct val="140000"/>
              </a:lnSpc>
              <a:buNone/>
            </a:pPr>
            <a:endParaRPr lang="en-US" sz="1500" dirty="0"/>
          </a:p>
          <a:p>
            <a:pPr indent="0" marL="0">
              <a:lnSpc>
                <a:spcPct val="140000"/>
              </a:lnSpc>
              <a:buNone/>
            </a:pPr>
            <a:r>
              <a:rPr lang="en-US" sz="1500" b="1" dirty="0">
                <a:solidFill>
                  <a:srgbClr val="2A9D8F"/>
                </a:solidFill>
                <a:latin typeface="Calibri" pitchFamily="34" charset="0"/>
                <a:ea typeface="Calibri" pitchFamily="34" charset="-122"/>
                <a:cs typeface="Calibri" pitchFamily="34" charset="-120"/>
              </a:rPr>
              <a:t>Informe de referencia  </a:t>
            </a:r>
            <a:pPr indent="0" marL="0">
              <a:lnSpc>
                <a:spcPct val="140000"/>
              </a:lnSpc>
              <a:buNone/>
            </a:pPr>
            <a:r>
              <a:rPr lang="en-US" sz="1500" dirty="0">
                <a:solidFill>
                  <a:srgbClr val="FFFFFF"/>
                </a:solidFill>
                <a:latin typeface="Calibri" pitchFamily="34" charset="0"/>
                <a:ea typeface="Calibri" pitchFamily="34" charset="-122"/>
                <a:cs typeface="Calibri" pitchFamily="34" charset="-120"/>
              </a:rPr>
              <a:t>Llorente y Breard (2026), informe país CIRTECAL Argentina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Medir lo que no se publica — Clase de método (CIRTECAL)</dc:title>
  <dc:subject>PptxGenJS Presentation</dc:subject>
  <dc:creator>Leandro Javier Llorente; Gerardo Esteban Breard</dc:creator>
  <cp:lastModifiedBy>Leandro Javier Llorente; Gerardo Esteban Breard</cp:lastModifiedBy>
  <cp:revision>1</cp:revision>
  <dcterms:created xsi:type="dcterms:W3CDTF">2026-10-14T18:59:48Z</dcterms:created>
  <dcterms:modified xsi:type="dcterms:W3CDTF">2026-10-14T18:59:48Z</dcterms:modified>
</cp:coreProperties>
</file>